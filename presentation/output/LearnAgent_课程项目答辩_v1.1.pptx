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ea84970104524" /><Relationship Type="http://schemas.openxmlformats.org/officeDocument/2006/relationships/extended-properties" Target="/docProps/app.xml" Id="R7aaa4fcbdf4441be" /><Relationship Type="http://schemas.openxmlformats.org/officeDocument/2006/relationships/officeDocument" Target="/ppt/presentation.xml" Id="R6fea530aa7264b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6233b78674600"/>
  </p:sldMasterIdLst>
  <p:notesMasterIdLst>
    <p:notesMasterId xmlns:r="http://schemas.openxmlformats.org/officeDocument/2006/relationships" r:id="Re0897b31359e49d0"/>
  </p:notesMasterIdLst>
  <p:sldIdLst>
    <p:sldId xmlns:r="http://schemas.openxmlformats.org/officeDocument/2006/relationships" id="256" r:id="Rd2a888842f414bfe"/>
    <p:sldId xmlns:r="http://schemas.openxmlformats.org/officeDocument/2006/relationships" id="257" r:id="R5373fae5b1e3460a"/>
    <p:sldId xmlns:r="http://schemas.openxmlformats.org/officeDocument/2006/relationships" id="258" r:id="R779fdb0833694b7e"/>
    <p:sldId xmlns:r="http://schemas.openxmlformats.org/officeDocument/2006/relationships" id="259" r:id="R6674fa49bd8a429b"/>
    <p:sldId xmlns:r="http://schemas.openxmlformats.org/officeDocument/2006/relationships" id="260" r:id="R6105b9a359954fb5"/>
    <p:sldId xmlns:r="http://schemas.openxmlformats.org/officeDocument/2006/relationships" id="261" r:id="Raf9be9beef37426e"/>
    <p:sldId xmlns:r="http://schemas.openxmlformats.org/officeDocument/2006/relationships" id="262" r:id="Rb56025c5d4bc4146"/>
    <p:sldId xmlns:r="http://schemas.openxmlformats.org/officeDocument/2006/relationships" id="263" r:id="R1f60b0b4d3b74097"/>
    <p:sldId xmlns:r="http://schemas.openxmlformats.org/officeDocument/2006/relationships" id="264" r:id="R5db355eab8a94a75"/>
    <p:sldId xmlns:r="http://schemas.openxmlformats.org/officeDocument/2006/relationships" id="265" r:id="R7a6c0a19e66f467b"/>
    <p:sldId xmlns:r="http://schemas.openxmlformats.org/officeDocument/2006/relationships" id="266" r:id="Rc4fd25582b6c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bbbd14b0b45f1" /><Relationship Type="http://schemas.openxmlformats.org/officeDocument/2006/relationships/slideMaster" Target="/ppt/slideMasters/slideMaster1.xml" Id="R94b6233b78674600" /><Relationship Type="http://schemas.openxmlformats.org/officeDocument/2006/relationships/notesMaster" Target="/ppt/notesMasters/notesMaster1.xml" Id="Re0897b31359e49d0" /><Relationship Type="http://schemas.openxmlformats.org/officeDocument/2006/relationships/presProps" Target="/ppt/presProps.xml" Id="R68a025f4c54148cd" /><Relationship Type="http://schemas.openxmlformats.org/officeDocument/2006/relationships/tableStyles" Target="/ppt/tableStyles.xml" Id="R06e56ec27a0d4464" /><Relationship Type="http://schemas.openxmlformats.org/officeDocument/2006/relationships/slide" Target="/ppt/slides/slide1.xml" Id="Rd2a888842f414bfe" /><Relationship Type="http://schemas.openxmlformats.org/officeDocument/2006/relationships/slide" Target="/ppt/slides/slide2.xml" Id="R5373fae5b1e3460a" /><Relationship Type="http://schemas.openxmlformats.org/officeDocument/2006/relationships/slide" Target="/ppt/slides/slide3.xml" Id="R779fdb0833694b7e" /><Relationship Type="http://schemas.openxmlformats.org/officeDocument/2006/relationships/slide" Target="/ppt/slides/slide4.xml" Id="R6674fa49bd8a429b" /><Relationship Type="http://schemas.openxmlformats.org/officeDocument/2006/relationships/slide" Target="/ppt/slides/slide5.xml" Id="R6105b9a359954fb5" /><Relationship Type="http://schemas.openxmlformats.org/officeDocument/2006/relationships/slide" Target="/ppt/slides/slide6.xml" Id="Raf9be9beef37426e" /><Relationship Type="http://schemas.openxmlformats.org/officeDocument/2006/relationships/slide" Target="/ppt/slides/slide7.xml" Id="Rb56025c5d4bc4146" /><Relationship Type="http://schemas.openxmlformats.org/officeDocument/2006/relationships/slide" Target="/ppt/slides/slide8.xml" Id="R1f60b0b4d3b74097" /><Relationship Type="http://schemas.openxmlformats.org/officeDocument/2006/relationships/slide" Target="/ppt/slides/slide9.xml" Id="R5db355eab8a94a75" /><Relationship Type="http://schemas.openxmlformats.org/officeDocument/2006/relationships/slide" Target="/ppt/slides/slide10.xml" Id="R7a6c0a19e66f467b" /><Relationship Type="http://schemas.openxmlformats.org/officeDocument/2006/relationships/slide" Target="/ppt/slides/slide11.xml" Id="Rc4fd25582b6c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58c4e0377d4a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d0d03f0abe4bf6" /><Relationship Type="http://schemas.openxmlformats.org/officeDocument/2006/relationships/notesMaster" Target="/ppt/notesMasters/notesMaster1.xml" Id="R61cd55bb9ad741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0892cb43d547a5" /><Relationship Type="http://schemas.openxmlformats.org/officeDocument/2006/relationships/notesMaster" Target="/ppt/notesMasters/notesMaster1.xml" Id="R983c02ad2aa6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cc07a32ae4400" /><Relationship Type="http://schemas.openxmlformats.org/officeDocument/2006/relationships/notesMaster" Target="/ppt/notesMasters/notesMaster1.xml" Id="R9f756fda1ed844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cbfcdd05e47b6" /><Relationship Type="http://schemas.openxmlformats.org/officeDocument/2006/relationships/notesMaster" Target="/ppt/notesMasters/notesMaster1.xml" Id="R16ba0b9ae92a4a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4d6dc6f5ec43c6" /><Relationship Type="http://schemas.openxmlformats.org/officeDocument/2006/relationships/notesMaster" Target="/ppt/notesMasters/notesMaster1.xml" Id="R6eead2ea3d8b42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74fe929e884b5c" /><Relationship Type="http://schemas.openxmlformats.org/officeDocument/2006/relationships/notesMaster" Target="/ppt/notesMasters/notesMaster1.xml" Id="Rf3d2859ebf2b44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3c817e0f04312" /><Relationship Type="http://schemas.openxmlformats.org/officeDocument/2006/relationships/notesMaster" Target="/ppt/notesMasters/notesMaster1.xml" Id="Rd89659351f6143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a7122e56d42bd" /><Relationship Type="http://schemas.openxmlformats.org/officeDocument/2006/relationships/notesMaster" Target="/ppt/notesMasters/notesMaster1.xml" Id="Rddde0c576c8749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5a399f8e448d3" /><Relationship Type="http://schemas.openxmlformats.org/officeDocument/2006/relationships/notesMaster" Target="/ppt/notesMasters/notesMaster1.xml" Id="R4378cf3baea041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f88b9dbabe4587" /><Relationship Type="http://schemas.openxmlformats.org/officeDocument/2006/relationships/notesMaster" Target="/ppt/notesMasters/notesMaster1.xml" Id="Rc8c8d78e47c04d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89a7d7eddf4c92" /><Relationship Type="http://schemas.openxmlformats.org/officeDocument/2006/relationships/notesMaster" Target="/ppt/notesMasters/notesMaster1.xml" Id="R1e75099202e849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开场：我们开发的是 LearnAgent，一个以 Java 为业务核心的本地智能学习系统。</a:t>
            </a:r>
          </a:p>
          <a:p xmlns:a="http://schemas.openxmlformats.org/drawingml/2006/main">
            <a:r>
              <a:t>模板参考：Presenton General，Apache 2.0。https://github.com/presenton/presenton</a:t>
            </a:r>
          </a:p>
          <a:p xmlns:a="http://schemas.openxmlformats.org/drawingml/2006/main">
            <a:r>
              <a:t>当前系统依据：D:/LearnAgent/README.md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强调项目背景，不先罗列功能。学习状态断裂是 LearnAgent 要解决的核心问题。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这一页说明项目意义：把一次问答扩展为持续学习闭环。</a:t>
            </a:r>
          </a:p>
          <a:p xmlns:a="http://schemas.openxmlformats.org/drawingml/2006/main">
            <a:r>
              <a:t>Google LearnLM learning principles: https://blog.google/products-and-platforms/products/education/google-learnlm-gemini-generative-ai/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技术部分按实现责任分配，Java 相关内容约占 60%。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结合代码说明 Java 不只是接口层，它承担规则、状态和安全边界。</a:t>
            </a:r>
          </a:p>
          <a:p xmlns:a="http://schemas.openxmlformats.org/drawingml/2006/main">
            <a:r>
              <a:t>Project source: D:/LearnAgent/backend/src/main/java/com/learnagent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AI official reference: https://docs.spring.io/spring-ai/reference/index.html</a:t>
            </a:r>
          </a:p>
          <a:p xmlns:a="http://schemas.openxmlformats.org/drawingml/2006/main">
            <a:r>
              <a:t>pgvector official repository: https://github.com/pgvector/pgvector</a:t>
            </a:r>
          </a:p>
          <a:p xmlns:a="http://schemas.openxmlformats.org/drawingml/2006/main">
            <a:r>
              <a:t>Local project source: D:/LearnAgent/backend/src/main/java/com/learnagent/rag/LocalKnowledgeService.java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Study Mode uses guiding questions and understanding checks: https://help.openai.com/en/articles/11780217-using-study-mode-in-chatgpt</a:t>
            </a:r>
          </a:p>
          <a:p xmlns:a="http://schemas.openxmlformats.org/drawingml/2006/main">
            <a:r>
              <a:t>Google LearnLM emphasizes active learning and adaptation: https://blog.google/products-and-platforms/products/education/google-learnlm-gemini-generative-ai/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Java-FSRS official repository: https://github.com/open-spaced-repetition/java-fsrs</a:t>
            </a:r>
          </a:p>
          <a:p xmlns:a="http://schemas.openxmlformats.org/drawingml/2006/main">
            <a:r>
              <a:t>Project uses Java-FSRS 0.5.1 with desired retention 0.90.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D:/LearnAgent/backend/src/main/java/com/learnagent/weekly</a:t>
            </a:r>
          </a:p>
          <a:p xmlns:a="http://schemas.openxmlformats.org/drawingml/2006/main">
            <a:r>
              <a:t>Project source: D:/LearnAgent/backend/src/main/java/com/learnagent/workspace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Study Mode: https://help.openai.com/en/articles/11780217-using-study-mode-in-chatgpt</a:t>
            </a:r>
          </a:p>
          <a:p xmlns:a="http://schemas.openxmlformats.org/drawingml/2006/main">
            <a:r>
              <a:t>Google LearnLM: https://blog.google/products-and-platforms/products/education/google-learnlm-gemini-generative-ai/</a:t>
            </a:r>
          </a:p>
          <a:p xmlns:a="http://schemas.openxmlformats.org/drawingml/2006/main">
            <a:r>
              <a:t>Spring AI reference: https://docs.spring.io/spring-ai/reference/index.html</a:t>
            </a:r>
          </a:p>
          <a:p xmlns:a="http://schemas.openxmlformats.org/drawingml/2006/main">
            <a:r>
              <a:t>Java-FSRS: https://github.com/open-spaced-repetition/java-fsrs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本页用于第一版收束。现场演示和成员分工将在下一轮补齐。</a:t>
            </a:r>
          </a:p>
          <a:p xmlns:a="http://schemas.openxmlformats.org/drawingml/2006/main">
            <a:r>
              <a:t>Validation baseline: 37 backend tests passed; frontend production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f1bf805d64a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9370bcb5a4c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b3309121e49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3e1a54b6a4e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1d8aca4314b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0c76a22fe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6D643-FBF5-42F0-93D9-44332C29E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B60047-4FE1-44CE-97C8-0295160F67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AC2868-1E9B-4119-BFED-4FBA3E49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2FBF4A-A872-4286-B3ED-EE4E67CD2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844B51-DDA3-4749-98DE-827732548D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F9ABFA-88EA-4E1F-98BD-2AFC742EB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9FD734-8F91-4384-95D7-28F836112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7A5338-2527-44BF-B32D-AE847C3851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9C460-F4E6-4A0E-80AB-9CF8F2DE0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64D8AF-3DDA-458D-8F8B-72C34D8A3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53e4b603c495a" /><Relationship Type="http://schemas.openxmlformats.org/officeDocument/2006/relationships/slideLayout" Target="/ppt/slideLayouts/slideLayout1.xml" Id="R8cbf94f3c8204202" /><Relationship Type="http://schemas.openxmlformats.org/officeDocument/2006/relationships/slideLayout" Target="/ppt/slideLayouts/slideLayout2.xml" Id="R77090655e6c04ac4" /><Relationship Type="http://schemas.openxmlformats.org/officeDocument/2006/relationships/slideLayout" Target="/ppt/slideLayouts/slideLayout3.xml" Id="Rf36024f92bfa42e3" /><Relationship Type="http://schemas.openxmlformats.org/officeDocument/2006/relationships/slideLayout" Target="/ppt/slideLayouts/slideLayout4.xml" Id="R002799f095d949e7" /><Relationship Type="http://schemas.openxmlformats.org/officeDocument/2006/relationships/slideLayout" Target="/ppt/slideLayouts/slideLayout5.xml" Id="R193c01e5517f46ff" /><Relationship Type="http://schemas.openxmlformats.org/officeDocument/2006/relationships/slideLayout" Target="/ppt/slideLayouts/slideLayout6.xml" Id="R3632e37e038247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f94f3c8204202"/>
    <p:sldLayoutId xmlns:r="http://schemas.openxmlformats.org/officeDocument/2006/relationships" id="2147483650" r:id="R77090655e6c04ac4"/>
    <p:sldLayoutId xmlns:r="http://schemas.openxmlformats.org/officeDocument/2006/relationships" id="2147483651" r:id="Rf36024f92bfa42e3"/>
    <p:sldLayoutId xmlns:r="http://schemas.openxmlformats.org/officeDocument/2006/relationships" id="2147483652" r:id="R002799f095d949e7"/>
    <p:sldLayoutId xmlns:r="http://schemas.openxmlformats.org/officeDocument/2006/relationships" id="2147483653" r:id="R193c01e5517f46ff"/>
    <p:sldLayoutId xmlns:r="http://schemas.openxmlformats.org/officeDocument/2006/relationships" id="2147483654" r:id="R3632e37e038247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733b98b3e40c0" /><Relationship Type="http://schemas.openxmlformats.org/officeDocument/2006/relationships/image" Target="/ppt/media/image.png" Id="R7f9afa5339694e93" /><Relationship Type="http://schemas.openxmlformats.org/officeDocument/2006/relationships/notesSlide" Target="/ppt/notesSlides/notesSlide1.xml" Id="R0b6e78ccbcc5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e82865c834ab7" /><Relationship Type="http://schemas.openxmlformats.org/officeDocument/2006/relationships/notesSlide" Target="/ppt/notesSlides/notesSlide2.xml" Id="R7b7235c63d1b4c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4aa36012e465c" /><Relationship Type="http://schemas.openxmlformats.org/officeDocument/2006/relationships/notesSlide" Target="/ppt/notesSlides/notesSlide3.xml" Id="Rfa253920b06a4b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672cfeac643d7" /><Relationship Type="http://schemas.openxmlformats.org/officeDocument/2006/relationships/notesSlide" Target="/ppt/notesSlides/notesSlide4.xml" Id="R91a8085e8ec7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c74864f894467" /><Relationship Type="http://schemas.openxmlformats.org/officeDocument/2006/relationships/notesSlide" Target="/ppt/notesSlides/notesSlide5.xml" Id="Rbacc1535beab48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7c4f8c4d448d7" /><Relationship Type="http://schemas.openxmlformats.org/officeDocument/2006/relationships/notesSlide" Target="/ppt/notesSlides/notesSlide6.xml" Id="Rb517f0c652094b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c1039c878453f" /><Relationship Type="http://schemas.openxmlformats.org/officeDocument/2006/relationships/image" Target="/ppt/media/image2.png" Id="Rca1124740e5c485e" /><Relationship Type="http://schemas.openxmlformats.org/officeDocument/2006/relationships/notesSlide" Target="/ppt/notesSlides/notesSlide7.xml" Id="Rf3cdaa90474d4a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2a143c764440e" /><Relationship Type="http://schemas.openxmlformats.org/officeDocument/2006/relationships/notesSlide" Target="/ppt/notesSlides/notesSlide8.xml" Id="R72fdf93da5664b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2d98d42234d9a" /><Relationship Type="http://schemas.openxmlformats.org/officeDocument/2006/relationships/image" Target="/ppt/media/image3.png" Id="R392042cc79934273" /><Relationship Type="http://schemas.openxmlformats.org/officeDocument/2006/relationships/image" Target="/ppt/media/image4.png" Id="R7b9e0c1b3c8c4f3e" /><Relationship Type="http://schemas.openxmlformats.org/officeDocument/2006/relationships/notesSlide" Target="/ppt/notesSlides/notesSlide9.xml" Id="Ref53fd599e8549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62495fbf24938" /><Relationship Type="http://schemas.openxmlformats.org/officeDocument/2006/relationships/notesSlide" Target="/ppt/notesSlides/notesSlide10.xml" Id="Rab4709179843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d9209e38349f5" /><Relationship Type="http://schemas.openxmlformats.org/officeDocument/2006/relationships/notesSlide" Target="/ppt/notesSlides/notesSlide11.xml" Id="R5ee59f0241da47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AD276-03B1-43A6-A924-277B911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8E8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课程项目答辩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7410A-3840-4196-BC11-4E55C45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A8BA7-08B1-4771-B084-9052C1F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面向课程学习闭环的智能学习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DD23D-67A6-4982-B087-DBDC468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rPr>
              <a:t>课程资料、主动测评、长期记忆与项目实践统一在一个本地系统中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5FFDB-A52F-4E3A-8592-8EC548EB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04850"/>
            <a:ext cx="5524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D2949"/>
          </a:solidFill>
          <a:ln xmlns:a="http://schemas.openxmlformats.org/drawingml/2006/main" w="9525">
            <a:solidFill>
              <a:srgbClr val="3445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2A682-2E77-4C96-ABF5-0EFF600E8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afa5339694e93"/>
          <a:stretch xmlns:a="http://schemas.openxmlformats.org/drawingml/2006/main"/>
        </p:blipFill>
        <p:spPr>
          <a:xfrm xmlns:a="http://schemas.openxmlformats.org/drawingml/2006/main">
            <a:off x="6105525" y="1665684"/>
            <a:ext cx="5219700" cy="2936081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DB4D2-199F-49A9-847B-C1D2AEA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项目背景与关键技术 · 第一版</a:t>
            </a:r>
          </a:p>
        </p:txBody>
      </p:sp>
    </p:spTree>
    <p:extLst>
      <p:ext uri="{BB962C8B-B14F-4D97-AF65-F5344CB8AC3E}">
        <p14:creationId xmlns:p14="http://schemas.microsoft.com/office/powerpoint/2010/main" val="106984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2EB10-079D-4ABD-89A3-655ED38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学习过程被多个工具切断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014DB-4CEC-4E0A-8ECB-23848A4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资料、问答、测验和复习分别存在，学习状态难以连续积累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2AA4D-EA89-4459-839A-1B1F0E5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1D0E0-ED93-49F2-872C-58C5CAC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435E4-1278-4E7F-8ACE-03BE1E4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2CD89-24AF-47F4-9EA8-AA43881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28C4B-D7C9-4982-9A5A-FD7FA7B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F7704-D274-42A1-9CAB-C8B1635E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86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PDF 与课堂笔记分散，检索成本高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B6B64-F0CE-4EE7-83E4-3069150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045A4-4A8A-402F-8791-0588CD0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C6555-E551-4159-957C-BBE1BC2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2E719-9441-4FAB-9280-C213943C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956EF-FF5F-419E-918F-11206FF0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通常只解决当下问题，缺少课程上下文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CAA32-8B92-4EB5-8BB2-71C83D0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BAB41-653D-4E4D-8CB1-709F540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AE5A2-DEFA-4EEC-8E65-E80392A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3825C-643A-4102-B92D-53EDC03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练习测验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EB91B-6758-41F5-A5B8-A27CC6E0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错题留在一次结果中，难以持续训练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7531B-AC61-4B08-BA78-7B0083E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1AF7A-47C2-4CC4-83A2-6BB7CEF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E640-D1ED-4221-9D20-5BE63B92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A9EDF-4FCE-455E-988F-D59A6E7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复习计划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B495F-61FC-4449-8D69-B6C91C3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依靠人工安排，容易忽略遗忘规律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05722-B59C-4B38-BF9A-DCC2A59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15F6B-3EC4-4480-B0A6-39C8B5B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14850"/>
            <a:ext cx="938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信息存在，但掌握度、薄弱点和遗忘风险没有形成可持续的学习记录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F64A7-E40A-4334-863B-C7BCA98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项目目标：让系统持续记录学习行为，让模型负责生成内容，让 Java 负责判定状态与执行操作。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B9067-47AB-4743-B775-2C8A1FC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7541C-BD74-41B2-8799-554209D7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420141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0B565-9FC9-4B91-A17B-CC36C028CF2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1190625" y="2924175"/>
            <a:ext cx="977265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CDF2F-40DE-44D5-A922-1509EB5EF5C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9917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EE240-B80F-49B2-9D79-4B297D4B1E3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629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2BE5C-6499-4543-83FB-7DC77689DFD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3417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67E4D-CF12-456E-92B5-4D0AD753C8A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0540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88197-4BEE-486D-9434-C88A76FF3F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ED41F-A419-4292-8079-0465CA7079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478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FEAB6-5AC6-49DC-B4B3-2ED3629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LearnAgent 将学习行为闭合为持续循环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26AA-50B3-425A-9B07-450AFA1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每一步都会产生下一步可利用的数据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3D90E-2AD6-4E24-A069-09D4951A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802A9-E23E-4EEF-99A3-332EA52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79386-D1EF-4B10-A28F-4BC5738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A5345-AF24-4160-B8F7-50603DE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辅导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A7F4-BC77-4B8D-B0F9-955C09A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自适应测验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0EAB9-DDF2-447E-8BE8-0B8867D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薄弱点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3746F-0393-4905-82EA-153E3ED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复习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4798A-8EDD-4751-A20E-A2D1C34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周报复盘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3A700-29D1-41FB-9A40-537A6CC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项目实践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053B6-2ABE-469D-8FA7-B6755DE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学习结果回流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C8E77-0832-4F76-A581-0C5131E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有依据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ABCEF-9C81-4090-846B-B0B918F5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答案、题目和记忆卡关联 PDF 页码或网页来源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F6BBE-B66B-40D6-BA9E-DD339BFF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66B20-063B-4497-98D5-7686360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正确率、掌握度和遗忘风险由 Java 确定性计算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77D37-D1FB-4687-931B-4B4F1CE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FB914-6B82-434A-943F-B92B885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任务、复习队列与周报在重启后仍能继续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FA4AE-445C-4E3E-B53F-61CA1E5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1AB0C-E55A-44DF-97EB-1E717BF7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859289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A00EB-B3FF-4BEA-AF5F-9F83254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EDB66-4A41-4A4F-967E-523610B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功能场景、Java 机制、AI 数据技术和主流产品关联在同一条链路中说明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17F05-8CC2-44E8-A17E-BCC0594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89DDF-FD02-408F-A62C-FEE6DE96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CFA77-DC8B-4C0C-91D3-6E816302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00B4E-77C1-4142-9D4E-893321D2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与 Spring 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0D35D-7D36-483C-AA9D-B565B2F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业务状态、数据一致性、工具执行和安全边界都落在 Java 服务层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1B749-9443-46C8-9BFA-0A12E12D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业务核心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418B-36A4-4866-BA17-D5AF11B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71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Boot · JPA · Scheduler · NIO · JUnit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3AA9-5D18-4663-BF38-8E15E7BB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与数据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1A4AB-323A-48CE-BD77-6FF18776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AI · 本地 Embedding · PGVector · Tavily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04F32-D7DA-4814-8635-D8C6BC3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DFE3-C333-46C6-B2FC-FB42F39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Vue 3 · ECharts · Markdown · DOMPurify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CDFF6-778C-4D7E-BEC7-2EB9A4E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17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BC127-689C-4FEC-8DB4-5806F8F8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F09FB-5DEB-4216-8B41-3A3911A8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6C7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31283-EA2B-4441-8ED7-FFF6261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/ Data 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0DEF0-72E5-4D2E-96D9-4ABC155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29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64AAC-BC8C-400A-8CA9-3FCEB476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Frontend 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5F7DE-B1F1-483D-B71D-9C93419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C82B0-A247-4C51-B505-019C0EC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577069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8DF63-CDD7-44CB-A592-0ACDE67EB4C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857500" y="4305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35E67-88B5-4D62-8E0E-9CFFF8307F1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57500" y="3390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55626-3725-41A7-9AEF-8B8D151237D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2476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0921E-7C8C-4E25-B0DF-83E792C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服务层承载业务状态和所有副作用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EEE7-09B3-49FE-AFD0-47BA7BD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分层架构让模型能力与真实数据操作保持清晰边界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C57A2-0121-4FCB-BC86-9C36B8C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2CDC6-25EF-471F-80CA-D939AE1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CE02-6C95-465E-8225-C53CFB1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3F542-9A98-4716-A4A9-077CCFB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157F5-97DC-4858-B1DB-85BA2D9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716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REST API · 参数校验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EDAAF-0C83-4C09-95E9-4C82895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EAA27-14B0-436E-93DA-8B4A697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2AB63-9E10-47EB-8718-E6A7FA0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860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学习规则 · 事务 · Tool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3B403-FD80-45F4-A065-224D973A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D37D1-72F3-4942-BCA0-8BE31A5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33149-7CAF-44E6-8364-83C24C6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004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Data JPA · 查询抽象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A4FCD-1730-471B-96A8-39561F1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8577A-79DC-411B-86F8-894DAE05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63AC2-991F-42EC-876A-44AD1C5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148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课程 · 测验 · 任务 · 复习状态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07168-85C5-45F4-9BC0-308C5E9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9525">
            <a:solidFill>
              <a:srgbClr val="111A33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21 + SPRING BOOT 3.4.5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75A0E-74AD-4446-822F-0C0C943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知识如何进入系统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DEA47-C1B5-4875-9409-0B397DCA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面向对象与接口：Controller、Service、Repository 各自负责一种职责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record 与 enum：表达 DTO、会话状态、评分和学习策略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泛型、集合与 Stream：聚合答题记录、排序薄弱点、生成统计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异常处理与校验：阻止非法文件、重复提交和越界路径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@Transactional 与 JPA：保证状态更新和日志写入保持一致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52907-A6E5-4E9D-905C-33C3451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72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55C37-BC16-4244-B08E-B579D4D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149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62"/>
          </a:bodyPr>
          <a:lstStyle xmlns:a="http://schemas.openxmlformats.org/drawingml/2006/main">
            <a:def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模型提出动作，Java 决定能否执行，并记录真实结果。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16D7F-EB3C-493B-8141-0159857D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D69C8-C1F6-41D6-9032-AE70363F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607198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99969-345F-431E-A410-67E9BF5EC76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107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54721-DDDB-4A02-96B6-EE6F7BF8489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9620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2366B-7168-4191-A5A1-0094F0D547E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8167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BE5FA-7CC7-42A2-9FF9-91BA21E808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6715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C7FCD-3A9D-4682-BE89-00156576A0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526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B991D-B53C-4A68-975F-FCD53C3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课程资料进入本地可检索知识库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9C28F-BA01-47F9-9FE5-93DE2339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RAG 让回答和测验建立在课程证据上，而不是依赖模型记忆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3FF16-59CD-43C0-B86F-BA91A918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F5AB-FF85-430B-809D-C2CD275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0193-C1F2-4B20-8F29-AB46DEB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 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E68E3-A394-4517-B9A0-9CA56B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PDFBox 提取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6FAC0-41DF-40AA-8699-AF7445F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文本切分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0897E-A19D-47CF-9325-9D2ABF4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4B161-9208-41D6-B41D-CE4170B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PGVector 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B3D0A-188C-4B2F-A35E-1F86AAF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Spring AI 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D7453-D1CD-447A-B1E4-659EC9E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在链路中的作用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26993-A712-4F3C-AC8A-38B8C0DA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使用 UUID 元数据隔离不同课程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通过泛型与 Stream 处理分块和来源去重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用接口抽象 Embedding 与 VectorStore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异常路径返回明确提示，系统仍可降级运行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2FD85-F118-4030-8E25-EF918FA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与主流方案的关系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3872D-AFE4-4D87-BA37-14ADC097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4619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AI 提供模型、结构化输出、VectorStore 和 Tool Calling 抽象；PGVector 在 PostgreSQL 中保存向量并支持余弦距离检索。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62B77-85D4-4D7A-A990-648D0E9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450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AD7E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5FFCC-B4F7-45D7-8C92-36848E9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03"/>
          </a:bodyPr>
          <a:lstStyle xmlns:a="http://schemas.openxmlformats.org/drawingml/2006/main">
            <a:def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Embedding 缓存在 D 盘，文档处理不消耗模型额度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4619D-9D8C-496D-B0AB-4B86C7E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2C1E8-5711-486D-AE45-04F391A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347378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E46FA-41BA-47FD-8BDA-8849CDA5CED2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714500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7CE51-A893-408B-A5A6-7CD1AFDB74B6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667000" y="3505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3AB7E-0CFD-4F0C-82B0-238A46F08322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143375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AD7FF-36C8-408A-9AC4-FC642DBAFAB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314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69C85-EAB6-41F3-996D-657D1AD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模型负责生成，Java 负责判定与执行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712A4-FCDF-4D1D-93FB-2830532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自适应测试将开放式模型能力放进可验证的学习会话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F7328-C223-44F2-B739-49CB948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795F-BC22-4AB7-9279-C48F3C6A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ACD23-2410-46C0-BB2B-82A98D5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FE984-9B5C-43E2-900F-11B2D3B9D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124740e5c485e"/>
          <a:stretch xmlns:a="http://schemas.openxmlformats.org/drawingml/2006/main"/>
        </p:blipFill>
        <p:spPr>
          <a:xfrm xmlns:a="http://schemas.openxmlformats.org/drawingml/2006/main">
            <a:off x="6448425" y="2298204"/>
            <a:ext cx="4867275" cy="2737842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0B9C0-8E59-4B30-A1D7-2C9821A0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课程资料与网络来源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277CF-ECDB-479D-A6FD-2567C68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生成 5 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5CAA-55CC-4BB6-BE5B-0CD17E1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判题与聚合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FC19F-C76A-467C-BB8B-1530625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下一轮策略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7EDFA-9203-42FE-807C-026FB288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总正确率 ≥ 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54798-E0FC-421D-AB53-EB14380C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每个知识点 ≥ 60%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9BF49-757D-4824-8D96-F8C009C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452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Map 聚合知识点表现，enum 表达训练策略，状态机限制最多三轮。模型不计算成绩，也不能声称未执行的任务已经完成。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9493A-20A3-4CBC-B297-746FA6A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12D78-E229-4ED1-878E-2F11ED63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13492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DB9A5-DAC8-4A41-921B-231EBE348A2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1545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DBAD0-B02A-4814-96CE-A31921A3449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1992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8C260-F6B3-4F65-84DF-9D1824B1B0F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2440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9932A-E8C9-4BC6-A885-F2C5D8A3496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4F74F-9B4E-45A9-A241-80527C5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将一次错题转为长期复习计划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E03A-2FF5-4B2A-8A1E-7F8D161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AI 生成候选内容，复习时间和遗忘风险由 Java 本地计算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AF626-318A-431B-9953-9626E62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BBF3-8CB1-433E-97C4-E665F5C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FE942-646E-418C-91D6-710A64A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6C4F3-4E90-4F45-B7AD-828714A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错题或课程资料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17B7F-A211-4F02-AEB6-0B6DE3D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ED5F-E790-4C36-B642-A2B31D2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5E5B6-720A-4E4B-8989-96CAAC6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候选卡确认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BC6E7-A758-4EDF-88CF-C57D7541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用户先审核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66DF-803E-4AE7-877D-5890A5B1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7EE25-1008-4A67-8BAE-D7FB089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四档评分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ADEA4-0875-4CDE-8F09-A7EA9496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9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Again / Hard / Good / Easy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8FDB1-9AD8-4CDF-9CE4-A29A7F5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3EDBD-7AFE-4F83-9D34-6CCC9985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Java-FSRS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652A0-E202-4343-A7B5-E7FC6B8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计算稳定性与到期时间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6095B-9234-42D7-9EC7-6C1105E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7DAC0-93D3-42BE-998A-A342F38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知识地图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08B9C-2826-44C3-97E7-597DC780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汇总掌握度与遗忘风险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4799F-BEB6-4B03-AB38-6234305F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4D594-3867-448E-A91D-3EFE4120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目标留存率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BEB20-A22C-4460-9686-BAC580F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20 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5B50A-7516-419F-9CDF-57809B34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每日上限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DBE77-8EED-4DC2-B0E9-1AB50AE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15 分钟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6F06C-E203-4AC4-8250-14F4349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时间上限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5367F-89C1-4DA2-B134-FEFBE9F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163AD-7172-4B3B-B10A-4A1E4E0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评分模型调用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FB4502-2F9E-47EB-BB90-B9765FB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7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知识点：第三方库封装、Instant 与 Duration、不可变 Review Log、JPA 实体关系、优先队列排序和定时任务。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B1379-5B8C-4923-9EF1-59E97B8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CC0A8-EC48-4A93-A74B-E79866A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150371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D9EFE-4A52-4677-B637-58EDE19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后台调度与项目工作区都受 Java 规则约束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9E209-434A-4549-AC84-00656268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主动推送、可追溯资料与本地文件操作共享同一套审计边界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8658E-8B87-4906-B019-FFFA02D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8F39-C56B-482E-ADAA-080CC60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0863E-C60C-45B3-8898-FC1C0E3A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36B55-A92D-4EF6-B565-FD96817D3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042cc79934273"/>
          <a:stretch xmlns:a="http://schemas.openxmlformats.org/drawingml/2006/main"/>
        </p:blipFill>
        <p:spPr>
          <a:xfrm xmlns:a="http://schemas.openxmlformats.org/drawingml/2006/main">
            <a:off x="965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FE294-525B-47CC-9C0A-6E5EF2D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5F161-3D73-4BBD-A409-55450EF14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e0c1b3c8c4f3e"/>
          <a:stretch xmlns:a="http://schemas.openxmlformats.org/drawingml/2006/main"/>
        </p:blipFill>
        <p:spPr>
          <a:xfrm xmlns:a="http://schemas.openxmlformats.org/drawingml/2006/main">
            <a:off x="7061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6E672-1C34-4CB2-984C-3C32E85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主动学习调度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B747-65F8-45E8-BE01-D7CBD5A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@Scheduled 按时生成资料与周报；唯一键与启动补偿避免重复。统计先由 Java 聚合，AI 只撰写总结。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01F72-6CCF-452A-9610-8BAF8B0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本地项目安全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2BFC9-7B4D-416B-89E2-4F3E741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NIO Path 规范化、扩展名白名单、符号链接检查和 ProcessBuilder 限制文件系统副作用。普通项目不会误执行 Maven。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3E17-8133-48E1-85BC-8646A54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0B02-11B5-433B-9DE0-A25DB57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2107974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61EA6-0557-4DF3-AD18-B50AC2F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主流产品思路被转化为可验证的本地实现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B278-3BED-4C7C-B292-90950125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借鉴交互与学习科学原则，业务数据和安全边界由 LearnAgent 自己控制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14D27-3075-4B88-9846-AEF791D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6F12B-605F-46EC-927E-ACD2A33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23E2-34DD-47CA-9462-B7EA4BAE4E43}"/>
              </a:ext>
            </a:extLst>
          </p:cNvPr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7061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3333750"/>
                <a:gridCol w="5038725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主流方案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借鉴的思路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LearnAgent 的本地实现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Study Mode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引导提问、分层解释、理解检查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自适应会话、错题解释、三轮策略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LearnLM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主动学习、适应目标、元认知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任务、薄弱点、周报和下周计划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Khanmigo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苏格拉底式辅导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先调用知识与分析 Tool，再组织回答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Anki / FSRS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间隔重复与遗忘管理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Java-FSRS、候选卡审核、知识图谱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LangChain / LlamaIndex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 Tool Calling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 AI + Java Service + PGVector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51DCE-227D-45CD-973B-4ECB063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31D0-5B57-4267-A7E9-E43C6B3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>
            <a:def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生成内容可以替换，学习状态不能编造。模型能力通过 Java 接口接入，系统仍能在模型离线时完成复习、统计和文件管理。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C30A1-62ED-4B78-9AB3-83B2C9F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16FE2-F323-4DEA-B26F-209A6A9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441267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F1864-527C-4BCB-8716-6D4863CD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将课程资料、测验、记忆与复盘连接为一个系统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AA4F5-0CFF-45C9-81C0-5196E0F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当前版本已经具备现场演示与继续扩展的工程基础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8D6FD-F61D-4440-B24C-F8AC155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751C-4E71-495B-8845-5F58455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431F8-BA47-42A8-9E77-7B67F7B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99E1D-4055-4F5B-BA1B-CF53478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Java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8715B-2166-44CA-A08C-E7A0632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E3073-DA29-4216-A758-D29DFD5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F399D-F758-46A5-AEF6-444E938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91B94-D48F-4D78-A262-4139341F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Flyway 迁移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EB7C0-26B6-45D0-8CF0-5FE24EAA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96139-853D-4AAD-9D0B-64D3576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无 Key 仍可复习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9255E-D03F-4D5A-AFD2-2CEAE68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B2427-3B52-496C-8EFC-B708C31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Backend tests · Frontend build · PostgreSQL + PGVector · 重启持久化 · 无 Key 复习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790EC-3B0B-4DE7-9268-AE9FFA7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下一步补充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41BE7-2815-4A86-AAD9-D380FF0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现场演示截图与讲解节奏 · 小组成员角色和任务比例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1C3E5-8B5A-4DC5-A05C-5510E22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F48FC-FB0E-47E5-A967-2665D2E7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E6A1B-BD39-45B3-B79B-20F1856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92937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2026-10-17T07:28:49.9740000Z</dcterms:created>
  <dcterms:modified xsi:type="dcterms:W3CDTF">2026-10-17T07:28:49.9740000Z</dcterms:modified>
</coreProperties>
</file>