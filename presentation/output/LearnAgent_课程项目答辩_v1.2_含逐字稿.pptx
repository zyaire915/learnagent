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1d3bcbf5984c67" /><Relationship Type="http://schemas.openxmlformats.org/officeDocument/2006/relationships/extended-properties" Target="/docProps/app.xml" Id="Rcf079eab7739463f" /><Relationship Type="http://schemas.openxmlformats.org/officeDocument/2006/relationships/officeDocument" Target="/ppt/presentation.xml" Id="R83ef506e32694f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928bbe831d94e79"/>
  </p:sldMasterIdLst>
  <p:notesMasterIdLst>
    <p:notesMasterId xmlns:r="http://schemas.openxmlformats.org/officeDocument/2006/relationships" r:id="R2f50a735dbe44d47"/>
  </p:notesMasterIdLst>
  <p:sldIdLst>
    <p:sldId xmlns:r="http://schemas.openxmlformats.org/officeDocument/2006/relationships" id="256" r:id="R13adc00041bc4d53"/>
    <p:sldId xmlns:r="http://schemas.openxmlformats.org/officeDocument/2006/relationships" id="257" r:id="R1223da2c7f72424f"/>
    <p:sldId xmlns:r="http://schemas.openxmlformats.org/officeDocument/2006/relationships" id="258" r:id="R73504f64f42f4d17"/>
    <p:sldId xmlns:r="http://schemas.openxmlformats.org/officeDocument/2006/relationships" id="259" r:id="Radd657cacc474d71"/>
    <p:sldId xmlns:r="http://schemas.openxmlformats.org/officeDocument/2006/relationships" id="260" r:id="Rd7ea693a58d04c19"/>
    <p:sldId xmlns:r="http://schemas.openxmlformats.org/officeDocument/2006/relationships" id="261" r:id="R9bc2f0f60c2d457d"/>
    <p:sldId xmlns:r="http://schemas.openxmlformats.org/officeDocument/2006/relationships" id="262" r:id="Rc594282bf612400d"/>
    <p:sldId xmlns:r="http://schemas.openxmlformats.org/officeDocument/2006/relationships" id="263" r:id="R16a2e803d08c4c17"/>
    <p:sldId xmlns:r="http://schemas.openxmlformats.org/officeDocument/2006/relationships" id="264" r:id="R3234f7bb691842a7"/>
    <p:sldId xmlns:r="http://schemas.openxmlformats.org/officeDocument/2006/relationships" id="265" r:id="Rdff98079ba994dff"/>
    <p:sldId xmlns:r="http://schemas.openxmlformats.org/officeDocument/2006/relationships" id="266" r:id="R1b54444e1a824dd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b5bcf8058384055" /><Relationship Type="http://schemas.openxmlformats.org/officeDocument/2006/relationships/slideMaster" Target="/ppt/slideMasters/slideMaster1.xml" Id="R3928bbe831d94e79" /><Relationship Type="http://schemas.openxmlformats.org/officeDocument/2006/relationships/notesMaster" Target="/ppt/notesMasters/notesMaster1.xml" Id="R2f50a735dbe44d47" /><Relationship Type="http://schemas.openxmlformats.org/officeDocument/2006/relationships/presProps" Target="/ppt/presProps.xml" Id="R4544c372a8014c36" /><Relationship Type="http://schemas.openxmlformats.org/officeDocument/2006/relationships/tableStyles" Target="/ppt/tableStyles.xml" Id="R8be97896b92446cf" /><Relationship Type="http://schemas.openxmlformats.org/officeDocument/2006/relationships/slide" Target="/ppt/slides/slide1.xml" Id="R13adc00041bc4d53" /><Relationship Type="http://schemas.openxmlformats.org/officeDocument/2006/relationships/slide" Target="/ppt/slides/slide2.xml" Id="R1223da2c7f72424f" /><Relationship Type="http://schemas.openxmlformats.org/officeDocument/2006/relationships/slide" Target="/ppt/slides/slide3.xml" Id="R73504f64f42f4d17" /><Relationship Type="http://schemas.openxmlformats.org/officeDocument/2006/relationships/slide" Target="/ppt/slides/slide4.xml" Id="Radd657cacc474d71" /><Relationship Type="http://schemas.openxmlformats.org/officeDocument/2006/relationships/slide" Target="/ppt/slides/slide5.xml" Id="Rd7ea693a58d04c19" /><Relationship Type="http://schemas.openxmlformats.org/officeDocument/2006/relationships/slide" Target="/ppt/slides/slide6.xml" Id="R9bc2f0f60c2d457d" /><Relationship Type="http://schemas.openxmlformats.org/officeDocument/2006/relationships/slide" Target="/ppt/slides/slide7.xml" Id="Rc594282bf612400d" /><Relationship Type="http://schemas.openxmlformats.org/officeDocument/2006/relationships/slide" Target="/ppt/slides/slide8.xml" Id="R16a2e803d08c4c17" /><Relationship Type="http://schemas.openxmlformats.org/officeDocument/2006/relationships/slide" Target="/ppt/slides/slide9.xml" Id="R3234f7bb691842a7" /><Relationship Type="http://schemas.openxmlformats.org/officeDocument/2006/relationships/slide" Target="/ppt/slides/slide10.xml" Id="Rdff98079ba994dff" /><Relationship Type="http://schemas.openxmlformats.org/officeDocument/2006/relationships/slide" Target="/ppt/slides/slide11.xml" Id="R1b54444e1a824d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f5e62f7f01f46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88be080cc4d48b1" /><Relationship Type="http://schemas.openxmlformats.org/officeDocument/2006/relationships/notesMaster" Target="/ppt/notesMasters/notesMaster1.xml" Id="R6b7affd74bf049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7d6c562f8ac41d6" /><Relationship Type="http://schemas.openxmlformats.org/officeDocument/2006/relationships/notesMaster" Target="/ppt/notesMasters/notesMaster1.xml" Id="Rc34efc2a91054ba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3de721fb3bb4abc" /><Relationship Type="http://schemas.openxmlformats.org/officeDocument/2006/relationships/notesMaster" Target="/ppt/notesMasters/notesMaster1.xml" Id="R68741bc819a942b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e827a0515d340d4" /><Relationship Type="http://schemas.openxmlformats.org/officeDocument/2006/relationships/notesMaster" Target="/ppt/notesMasters/notesMaster1.xml" Id="R836654f809e14d8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04be109246f48d6" /><Relationship Type="http://schemas.openxmlformats.org/officeDocument/2006/relationships/notesMaster" Target="/ppt/notesMasters/notesMaster1.xml" Id="R94f3fc6674a9456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0aee3d5cb3447ce" /><Relationship Type="http://schemas.openxmlformats.org/officeDocument/2006/relationships/notesMaster" Target="/ppt/notesMasters/notesMaster1.xml" Id="Ra11cb468b6c746b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3a4208e205a4f96" /><Relationship Type="http://schemas.openxmlformats.org/officeDocument/2006/relationships/notesMaster" Target="/ppt/notesMasters/notesMaster1.xml" Id="Ra71c40c918ca468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677b18e68724f3e" /><Relationship Type="http://schemas.openxmlformats.org/officeDocument/2006/relationships/notesMaster" Target="/ppt/notesMasters/notesMaster1.xml" Id="R1e5b80e3e49c4e8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2df96058ea246ae" /><Relationship Type="http://schemas.openxmlformats.org/officeDocument/2006/relationships/notesMaster" Target="/ppt/notesMasters/notesMaster1.xml" Id="R381c97e4a0624b4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4c3060babaa4fa7" /><Relationship Type="http://schemas.openxmlformats.org/officeDocument/2006/relationships/notesMaster" Target="/ppt/notesMasters/notesMaster1.xml" Id="Rabe005816cb34e2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a961693a21148f6" /><Relationship Type="http://schemas.openxmlformats.org/officeDocument/2006/relationships/notesMaster" Target="/ppt/notesMasters/notesMaster1.xml" Id="Rf5ed692b293849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开场：我们开发的是 LearnAgent，一个以 Java 为业务核心的本地智能学习系统。</a:t>
            </a:r>
          </a:p>
          <a:p xmlns:a="http://schemas.openxmlformats.org/drawingml/2006/main">
            <a:r>
              <a:t>模板参考：Presenton General，Apache 2.0。https://github.com/presenton/presenton</a:t>
            </a:r>
          </a:p>
          <a:p xmlns:a="http://schemas.openxmlformats.org/drawingml/2006/main">
            <a:r>
              <a:t>当前系统依据：D:/LearnAgent/README.md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【逐字演讲稿】</a:t>
            </a:r>
          </a:p>
          <a:p xmlns:a="http://schemas.openxmlformats.org/drawingml/2006/main">
            <a:r>
              <a:t>各位老师好，我们小组的课程项目是 LearnAgent。它是一个以 Java 为业务核心、面向课程学习全过程的智能学习系统。我们希望解决的，不只是让 AI 回答一个问题，而是把课程资料、学习任务、自适应测验、长期记忆和项目实践连接起来，让系统能够持续记录学生真正学过什么、哪里薄弱、接下来应该做什么。接下来我先介绍项目背景和意义，再重点说明我们采用的关键技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【建议时长】约35秒</a:t>
            </a:r>
          </a:p>
          <a:p xmlns:a="http://schemas.openxmlformats.org/drawingml/2006/main">
            <a:r>
              <a:t>【演示提示】面向评委站定，标题出现后停顿一秒，再开始发言。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强调项目背景，不先罗列功能。学习状态断裂是 LearnAgent 要解决的核心问题。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【逐字演讲稿】</a:t>
            </a:r>
          </a:p>
          <a:p xmlns:a="http://schemas.openxmlformats.org/drawingml/2006/main">
            <a:r>
              <a:t>我们首先分析了日常学习中的一个现实问题。课程资料通常分散在 PDF、课件和笔记里，查找成本比较高。普通 AI 问答虽然方便，但往往只解决当前问题，缺少稳定的课程上下文。完成一次测验之后，错题通常停留在结果页面，没有自动转化成后续训练。复习计划也主要依靠人工安排，很容易忽略遗忘规律。所以问题并不是没有学习工具，而是这些工具之间缺少连续的数据。掌握度、薄弱点和遗忘风险无法持续积累，这就是我们开发 LearnAgent 的主要背景。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【建议时长】约50秒</a:t>
            </a:r>
          </a:p>
          <a:p xmlns:a="http://schemas.openxmlformats.org/drawingml/2006/main">
            <a:r>
              <a:t>【演示提示】从左到右指向课程资料、AI问答、练习测验和复习计划。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这一页说明项目意义：把一次问答扩展为持续学习闭环。</a:t>
            </a:r>
          </a:p>
          <a:p xmlns:a="http://schemas.openxmlformats.org/drawingml/2006/main">
            <a:r>
              <a:t>Google LearnLM learning principles: https://blog.google/products-and-platforms/products/education/google-learnlm-gemini-generative-ai/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【逐字演讲稿】</a:t>
            </a:r>
          </a:p>
          <a:p xmlns:a="http://schemas.openxmlformats.org/drawingml/2006/main">
            <a:r>
              <a:t>针对前面的问题，我们把学习过程设计成一个能够持续回流的闭环。学生先上传课程资料，Agent 基于资料进行辅导，并生成自适应测验。Java 后端根据真实答题记录计算薄弱点，再把错题转成候选记忆卡，通过 FSRS 安排复习。任务完成情况、测验表现和复习记录会进入学习周报，学生还可以通过项目工作台把知识用于实际项目。这个闭环有三个特点。第一，回答、题目和卡片都有来源。第二，正确率、掌握度和遗忘风险都由 Java 计算。第三，任务和复习状态会持久化，系统重启后仍然能够继续。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【建议时长】约50秒</a:t>
            </a:r>
          </a:p>
          <a:p xmlns:a="http://schemas.openxmlformats.org/drawingml/2006/main">
            <a:r>
              <a:t>【演示提示】沿上方流程从左向右讲解，最后指向虚线回流。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技术部分按实现责任分配，Java 相关内容约占 60%。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【逐字演讲稿】</a:t>
            </a:r>
          </a:p>
          <a:p xmlns:a="http://schemas.openxmlformats.org/drawingml/2006/main">
            <a:r>
              <a:t>在技术选型上，我们把 Java 和 Spring 后端作为整个系统的核心，占关键技术内容的大约百分之六十。原因是模型生成具有不确定性，而课程数据、测验成绩、复习时间和文件操作都需要确定的业务规则。Java 服务层负责状态管理、数据一致性、工具执行和安全边界。AI 与数据部分主要使用 Spring AI、本地 Embedding、PGVector 和 Tavily。前端使用 Vue 3、ECharts 和 Markdown，为用户提供可视化交互。下面我按照真实功能链路说明这些技术。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【建议时长】约35秒</a:t>
            </a:r>
          </a:p>
          <a:p xmlns:a="http://schemas.openxmlformats.org/drawingml/2006/main">
            <a:r>
              <a:t>【演示提示】先强调左侧60%，再依次指向右侧三组技术。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结合代码说明 Java 不只是接口层，它承担规则、状态和安全边界。</a:t>
            </a:r>
          </a:p>
          <a:p xmlns:a="http://schemas.openxmlformats.org/drawingml/2006/main">
            <a:r>
              <a:t>Project source: D:/LearnAgent/backend/src/main/java/com/learnagent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【逐字演讲稿】</a:t>
            </a:r>
          </a:p>
          <a:p xmlns:a="http://schemas.openxmlformats.org/drawingml/2006/main">
            <a:r>
              <a:t>后端采用典型的 Controller、Service、Repository 分层结构。Controller 接收 REST 请求并完成参数校验。Service 负责学习规则、事务和 Agent Tool 的真实执行，是业务核心。Repository 使用 Spring Data JPA 访问 PostgreSQL。数据库保存课程、任务、测验、答案和复习状态。这套结构对应了课程中多个 Java 知识点。面向对象和接口用于划分职责，record 用于表达 DTO，enum 用于表示会话状态、评分和训练策略，泛型、集合与 Stream 用于聚合答题记录和排序薄弱点，异常处理负责拒绝非法输入，Transactional 和 JPA 保证状态更新与日志写入的一致性。我们的原则是，模型可以提出动作，但 Java 决定动作能否执行，并记录真实结果。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【建议时长】约60秒</a:t>
            </a:r>
          </a:p>
          <a:p xmlns:a="http://schemas.openxmlformats.org/drawingml/2006/main">
            <a:r>
              <a:t>【演示提示】先讲左侧四层架构，再讲右侧Java知识点，最后读出设计原则。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Spring AI official reference: https://docs.spring.io/spring-ai/reference/index.html</a:t>
            </a:r>
          </a:p>
          <a:p xmlns:a="http://schemas.openxmlformats.org/drawingml/2006/main">
            <a:r>
              <a:t>pgvector official repository: https://github.com/pgvector/pgvector</a:t>
            </a:r>
          </a:p>
          <a:p xmlns:a="http://schemas.openxmlformats.org/drawingml/2006/main">
            <a:r>
              <a:t>Local project source: D:/LearnAgent/backend/src/main/java/com/learnagent/rag/LocalKnowledgeService.java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【逐字演讲稿】</a:t>
            </a:r>
          </a:p>
          <a:p xmlns:a="http://schemas.openxmlformats.org/drawingml/2006/main">
            <a:r>
              <a:t>课程资料采用本地 RAG 流程。用户上传 PDF 后，后端先使用 PDFBox 提取文本，再由 Java 进行分块，并为每个分块保存课程编号、文档编号、文件名和页码。本地 ONNX 模型负责生成向量，PGVector 在 PostgreSQL 中保存向量并完成相似度检索，最后 Spring AI 结合检索结果生成回答或题目。Java 在这条链路中负责课程隔离、分块处理、来源去重和异常降级。这样做的优势是，系统能够给出 PDF 页码或网页链接作为依据，同时本地 Embedding 不消耗在线模型额度。它与主流 RAG 系统使用相同的检索思路，但数据仍保存在本机。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【建议时长】约55秒</a:t>
            </a:r>
          </a:p>
          <a:p xmlns:a="http://schemas.openxmlformats.org/drawingml/2006/main">
            <a:r>
              <a:t>【演示提示】沿上方数据流从PDF上传讲到Spring AI生成。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ChatGPT Study Mode uses guiding questions and understanding checks: https://help.openai.com/en/articles/11780217-using-study-mode-in-chatgpt</a:t>
            </a:r>
          </a:p>
          <a:p xmlns:a="http://schemas.openxmlformats.org/drawingml/2006/main">
            <a:r>
              <a:t>Google LearnLM emphasizes active learning and adaptation: https://blog.google/products-and-platforms/products/education/google-learnlm-gemini-generative-ai/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【逐字演讲稿】</a:t>
            </a:r>
          </a:p>
          <a:p xmlns:a="http://schemas.openxmlformats.org/drawingml/2006/main">
            <a:r>
              <a:t>自适应测验体现了我们对 AI 和 Java 职责的划分。系统先从课程资料和可追溯的网络来源中获取上下文，AI 根据指定课程和主题生成五道题。用户提交之后，Java 逐题判定答案，并按照知识点聚合表现。总正确率达到百分之八十，并且每个被测试知识点达到百分之六十，系统才认为本轮达到掌握标准。否则，Java 根据薄弱点推荐继续强化、测试关联知识，或者提高题目难度。学习会话最多推进三轮。这里使用了 Map 聚合、Stream 排序、enum 策略和状态机。模型不负责计算成绩，也不能把没有成功执行的任务描述成已经完成。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【建议时长】约60秒</a:t>
            </a:r>
          </a:p>
          <a:p xmlns:a="http://schemas.openxmlformats.org/drawingml/2006/main">
            <a:r>
              <a:t>【演示提示】先讲左侧闭环，再指向右侧真实计算机网络测验截图。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Java-FSRS official repository: https://github.com/open-spaced-repetition/java-fsrs</a:t>
            </a:r>
          </a:p>
          <a:p xmlns:a="http://schemas.openxmlformats.org/drawingml/2006/main">
            <a:r>
              <a:t>Project uses Java-FSRS 0.5.1 with desired retention 0.90.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【逐字演讲稿】</a:t>
            </a:r>
          </a:p>
          <a:p xmlns:a="http://schemas.openxmlformats.org/drawingml/2006/main">
            <a:r>
              <a:t>为了避免错题只停留在一次测验里，我们加入了记忆巩固模块。错题或课程资料先生成候选卡，用户确认内容后，卡片才会进入复习队列。复习时，用户可以选择忘记、困难、记得或轻松。Java-FSRS 根据评分计算卡片稳定性、可提取性和下一次到期时间，再把结果同步到知识地图。系统的目标留存率是百分之九十，每天最多安排二十张卡，复习达到十五分钟后停止继续加入。评分和调度完全在本地完成，不调用模型。这里使用了第三方库封装、Instant 和 Duration、不可变复习日志、JPA 实体关系以及优先级排序。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【建议时长】约55秒</a:t>
            </a:r>
          </a:p>
          <a:p xmlns:a="http://schemas.openxmlformats.org/drawingml/2006/main">
            <a:r>
              <a:t>【演示提示】按流程讲完后，停顿并强调下方四个数字。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source: D:/LearnAgent/backend/src/main/java/com/learnagent/weekly</a:t>
            </a:r>
          </a:p>
          <a:p xmlns:a="http://schemas.openxmlformats.org/drawingml/2006/main">
            <a:r>
              <a:t>Project source: D:/LearnAgent/backend/src/main/java/com/learnagent/workspace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【逐字演讲稿】</a:t>
            </a:r>
          </a:p>
          <a:p xmlns:a="http://schemas.openxmlformats.org/drawingml/2006/main">
            <a:r>
              <a:t>除了用户主动操作，LearnAgent 还包含后台主动学习能力。Spring Scheduler 每天生成外部学习资料，每周汇总任务、测验、薄弱点和记忆复习数据。唯一键和启动补偿用于避免重复生成。统计数字全部由 Java 聚合，AI 只负责撰写总结。右侧是项目工作台。用户用自然语言描述项目后，系统会生成项目计划、学习任务、资料和初始文件。文件操作使用 NIO Path 做规范化，并通过扩展名白名单、符号链接检查和 ProcessBuilder 限制副作用。只有真正包含 pom.xml 的项目才会显示项目测试按钮，普通项目不会误执行 Maven。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【建议时长】约55秒</a:t>
            </a:r>
          </a:p>
          <a:p xmlns:a="http://schemas.openxmlformats.org/drawingml/2006/main">
            <a:r>
              <a:t>【演示提示】先指左侧周报，再指右侧项目工作台。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OpenAI Study Mode: https://help.openai.com/en/articles/11780217-using-study-mode-in-chatgpt</a:t>
            </a:r>
          </a:p>
          <a:p xmlns:a="http://schemas.openxmlformats.org/drawingml/2006/main">
            <a:r>
              <a:t>Google LearnLM: https://blog.google/products-and-platforms/products/education/google-learnlm-gemini-generative-ai/</a:t>
            </a:r>
          </a:p>
          <a:p xmlns:a="http://schemas.openxmlformats.org/drawingml/2006/main">
            <a:r>
              <a:t>Spring AI reference: https://docs.spring.io/spring-ai/reference/index.html</a:t>
            </a:r>
          </a:p>
          <a:p xmlns:a="http://schemas.openxmlformats.org/drawingml/2006/main">
            <a:r>
              <a:t>Java-FSRS: https://github.com/open-spaced-repetition/java-fsrs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【逐字演讲稿】</a:t>
            </a:r>
          </a:p>
          <a:p xmlns:a="http://schemas.openxmlformats.org/drawingml/2006/main">
            <a:r>
              <a:t>在产品设计上，我们参考了多个主流学习和 Agent 产品，但没有直接复制功能。ChatGPT Study Mode 的引导提问和理解检查，启发了自适应会话与错题解释。Google LearnLM 强调主动学习、适应目标和元认知，我们将这些原则落实为任务、薄弱点、周报和下周计划。Khanmigo 的苏格拉底式辅导，体现在 Agent 先调用知识与分析工具，再组织回答。Anki 和 FSRS 提供了间隔重复思路，我们增加了候选卡审核和知识图谱。Spring AI 借鉴了 LangChain、LlamaIndex 等生态的 RAG 与 Tool Calling 思路。LearnAgent 的区别在于，生成内容可以替换，但学习状态不能编造，所有关键状态都由本地 Java 服务控制。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【建议时长】约55秒</a:t>
            </a:r>
          </a:p>
          <a:p xmlns:a="http://schemas.openxmlformats.org/drawingml/2006/main">
            <a:r>
              <a:t>【演示提示】不需要逐字读完整表格，按照从上到下的产品类别概括。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本页用于第一版收束。现场演示和成员分工将在下一轮补齐。</a:t>
            </a:r>
          </a:p>
          <a:p xmlns:a="http://schemas.openxmlformats.org/drawingml/2006/main">
            <a:r>
              <a:t>Validation baseline: 37 backend tests passed; frontend production build passed.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【逐字演讲稿】</a:t>
            </a:r>
          </a:p>
          <a:p xmlns:a="http://schemas.openxmlformats.org/drawingml/2006/main">
            <a:r>
              <a:t>最后总结一下。LearnAgent 使用 Java 21 和 Spring Boot 构建业务核心，目前后端已经通过三十七个自动化测试，数据库使用 Flyway 管理到 V8，并完成了 PostgreSQL、PGVector、重启持久化和无 API Key 复习能力的验证。这个项目的重点不是简单增加一个聊天页面，而是通过 Java 把课程资料、测验、记忆和复盘连接成一个可持续运行的学习系统。接下来我们还会补充完整的现场演示讲解，以及每位成员的角色和任务比例。我的这一部分汇报完毕，谢谢各位老师。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【建议时长】约40秒</a:t>
            </a:r>
          </a:p>
          <a:p xmlns:a="http://schemas.openxmlformats.org/drawingml/2006/main">
            <a:r>
              <a:t>【演示提示】读完核心结论后停顿，再说谢谢。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432c8a8f934cc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a7f83a2856468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be561a5229413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b4efee401645c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d386f9dbd345a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f4e3f92fff4df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646D643-FBF5-42F0-93D9-44332C29EE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BB60047-4FE1-44CE-97C8-0295160F673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8AC2868-1E9B-4119-BFED-4FBA3E498E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F2FBF4A-A872-4286-B3ED-EE4E67CD28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7844B51-DDA3-4749-98DE-827732548D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DF9ABFA-88EA-4E1F-98BD-2AFC742EB3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49FD734-8F91-4384-95D7-28F836112E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D7A5338-2527-44BF-B32D-AE847C3851E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5E9C460-F4E6-4A0E-80AB-9CF8F2DE05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564D8AF-3DDA-458D-8F8B-72C34D8A37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12d75b65da4cd5" /><Relationship Type="http://schemas.openxmlformats.org/officeDocument/2006/relationships/slideLayout" Target="/ppt/slideLayouts/slideLayout1.xml" Id="R7018fd2352fa404e" /><Relationship Type="http://schemas.openxmlformats.org/officeDocument/2006/relationships/slideLayout" Target="/ppt/slideLayouts/slideLayout2.xml" Id="R9c80950f3ebc4e1c" /><Relationship Type="http://schemas.openxmlformats.org/officeDocument/2006/relationships/slideLayout" Target="/ppt/slideLayouts/slideLayout3.xml" Id="Rca51b5e181bf4515" /><Relationship Type="http://schemas.openxmlformats.org/officeDocument/2006/relationships/slideLayout" Target="/ppt/slideLayouts/slideLayout4.xml" Id="R984db13a3ff04356" /><Relationship Type="http://schemas.openxmlformats.org/officeDocument/2006/relationships/slideLayout" Target="/ppt/slideLayouts/slideLayout5.xml" Id="Rccb5281e7f054234" /><Relationship Type="http://schemas.openxmlformats.org/officeDocument/2006/relationships/slideLayout" Target="/ppt/slideLayouts/slideLayout6.xml" Id="R701d6c321cb64d3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18fd2352fa404e"/>
    <p:sldLayoutId xmlns:r="http://schemas.openxmlformats.org/officeDocument/2006/relationships" id="2147483650" r:id="R9c80950f3ebc4e1c"/>
    <p:sldLayoutId xmlns:r="http://schemas.openxmlformats.org/officeDocument/2006/relationships" id="2147483651" r:id="Rca51b5e181bf4515"/>
    <p:sldLayoutId xmlns:r="http://schemas.openxmlformats.org/officeDocument/2006/relationships" id="2147483652" r:id="R984db13a3ff04356"/>
    <p:sldLayoutId xmlns:r="http://schemas.openxmlformats.org/officeDocument/2006/relationships" id="2147483653" r:id="Rccb5281e7f054234"/>
    <p:sldLayoutId xmlns:r="http://schemas.openxmlformats.org/officeDocument/2006/relationships" id="2147483654" r:id="R701d6c321cb64d3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d6d1568e1545de" /><Relationship Type="http://schemas.openxmlformats.org/officeDocument/2006/relationships/image" Target="/ppt/media/image.png" Id="R9bf0e9f6280b4035" /><Relationship Type="http://schemas.openxmlformats.org/officeDocument/2006/relationships/notesSlide" Target="/ppt/notesSlides/notesSlide1.xml" Id="R1094a3bf80d0444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9d21a4389d4988" /><Relationship Type="http://schemas.openxmlformats.org/officeDocument/2006/relationships/notesSlide" Target="/ppt/notesSlides/notesSlide2.xml" Id="R21506b6a43244aa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8915f3e39046e5" /><Relationship Type="http://schemas.openxmlformats.org/officeDocument/2006/relationships/notesSlide" Target="/ppt/notesSlides/notesSlide3.xml" Id="Rb3d47f0f8e79434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9b363798424cd6" /><Relationship Type="http://schemas.openxmlformats.org/officeDocument/2006/relationships/notesSlide" Target="/ppt/notesSlides/notesSlide4.xml" Id="R7b26ac737da3432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11a401360c4cb8" /><Relationship Type="http://schemas.openxmlformats.org/officeDocument/2006/relationships/notesSlide" Target="/ppt/notesSlides/notesSlide5.xml" Id="Rf7a7306269b441b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044daa2497452e" /><Relationship Type="http://schemas.openxmlformats.org/officeDocument/2006/relationships/notesSlide" Target="/ppt/notesSlides/notesSlide6.xml" Id="R548ef40b331746f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bd67304ed147ed" /><Relationship Type="http://schemas.openxmlformats.org/officeDocument/2006/relationships/image" Target="/ppt/media/image2.png" Id="R13b1e88ea6ad40da" /><Relationship Type="http://schemas.openxmlformats.org/officeDocument/2006/relationships/notesSlide" Target="/ppt/notesSlides/notesSlide7.xml" Id="Rf3493130f4ba423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75df7466cf474e" /><Relationship Type="http://schemas.openxmlformats.org/officeDocument/2006/relationships/notesSlide" Target="/ppt/notesSlides/notesSlide8.xml" Id="Ra87fa8c0da2f4fe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f4b777fbe247cb" /><Relationship Type="http://schemas.openxmlformats.org/officeDocument/2006/relationships/image" Target="/ppt/media/image3.png" Id="R3bd01d06163b43d4" /><Relationship Type="http://schemas.openxmlformats.org/officeDocument/2006/relationships/image" Target="/ppt/media/image4.png" Id="R1d27ca4932184d6d" /><Relationship Type="http://schemas.openxmlformats.org/officeDocument/2006/relationships/notesSlide" Target="/ppt/notesSlides/notesSlide9.xml" Id="R772cabdbe0fd4e4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e045dc451548a2" /><Relationship Type="http://schemas.openxmlformats.org/officeDocument/2006/relationships/notesSlide" Target="/ppt/notesSlides/notesSlide10.xml" Id="Ref8893df95714d8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46c41bc1b1417d" /><Relationship Type="http://schemas.openxmlformats.org/officeDocument/2006/relationships/notesSlide" Target="/ppt/notesSlides/notesSlide11.xml" Id="R13c365e44abc443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A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1AD276-03B1-43A6-A924-277B911FF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978E8"/>
          </a:solidFill>
          <a:ln xmlns:a="http://schemas.openxmlformats.org/drawingml/2006/main" w="9525">
            <a:solidFill>
              <a:srgbClr val="3978E8"/>
            </a:solidFill>
            <a:prstDash val="solid"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JAVA 课程项目答辩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67410A-3840-4196-BC11-4E55C459B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7160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LearnAgent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9A8BA7-08B1-4771-B084-9052C1FE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4810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DDE6F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325" b="1">
                <a:solidFill>
                  <a:srgbClr val="DDE6F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325" b="1">
                <a:solidFill>
                  <a:srgbClr val="DDE6F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325" b="1">
                <a:solidFill>
                  <a:srgbClr val="DDE6F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325" b="1">
                <a:solidFill>
                  <a:srgbClr val="DDE6F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325" b="1">
                <a:solidFill>
                  <a:srgbClr val="DDE6F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325" b="1">
                <a:solidFill>
                  <a:srgbClr val="DDE6F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325" b="1">
                <a:solidFill>
                  <a:srgbClr val="DDE6F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325" b="1">
                <a:solidFill>
                  <a:srgbClr val="DDE6F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325" b="1">
                <a:solidFill>
                  <a:srgbClr val="DDE6F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22000"/>
              </a:lnSpc>
              <a:buNone/>
              <a:defRPr sz="2325" b="1">
                <a:solidFill>
                  <a:srgbClr val="DDE6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DDE6F8"/>
                </a:solidFill>
                <a:latin typeface="Microsoft YaHei"/>
                <a:ea typeface="Microsoft YaHei"/>
                <a:cs typeface="Microsoft YaHei"/>
              </a:rPr>
              <a:t>面向课程学习闭环的智能学习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8DD23D-67A6-4982-B087-DBDC46810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447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AFC0E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575" b="0">
                <a:solidFill>
                  <a:srgbClr val="AFC0E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575" b="0">
                <a:solidFill>
                  <a:srgbClr val="AFC0E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575" b="0">
                <a:solidFill>
                  <a:srgbClr val="AFC0E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575" b="0">
                <a:solidFill>
                  <a:srgbClr val="AFC0E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575" b="0">
                <a:solidFill>
                  <a:srgbClr val="AFC0E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575" b="0">
                <a:solidFill>
                  <a:srgbClr val="AFC0E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575" b="0">
                <a:solidFill>
                  <a:srgbClr val="AFC0E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575" b="0">
                <a:solidFill>
                  <a:srgbClr val="AFC0E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575" b="0">
                <a:solidFill>
                  <a:srgbClr val="AFC0E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575" b="0">
                <a:solidFill>
                  <a:srgbClr val="AFC0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AFC0E0"/>
                </a:solidFill>
                <a:latin typeface="Microsoft YaHei"/>
                <a:ea typeface="Microsoft YaHei"/>
                <a:cs typeface="Microsoft YaHei"/>
              </a:rPr>
              <a:t>课程资料、主动测评、长期记忆与项目实践统一在一个本地系统中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15FFDB-A52F-4E3A-8592-8EC548EB6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704850"/>
            <a:ext cx="5524500" cy="4857750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1D2949"/>
          </a:solidFill>
          <a:ln xmlns:a="http://schemas.openxmlformats.org/drawingml/2006/main" w="9525">
            <a:solidFill>
              <a:srgbClr val="34456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BBFAFC-1B1D-453E-BFEC-6D8551A077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f0e9f6280b4035"/>
          <a:stretch xmlns:a="http://schemas.openxmlformats.org/drawingml/2006/main"/>
        </p:blipFill>
        <p:spPr>
          <a:xfrm xmlns:a="http://schemas.openxmlformats.org/drawingml/2006/main">
            <a:off x="6105525" y="1665684"/>
            <a:ext cx="5219700" cy="2936081"/>
          </a:xfrm>
          <a:prstGeom xmlns:a="http://schemas.openxmlformats.org/drawingml/2006/main" prst="roundRect">
            <a:avLst>
              <a:gd name="adj" fmla="val 2510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3DB4D2-199F-49A9-847B-C1D2AEABF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00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00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00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00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00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00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00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00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00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rPr>
              <a:t>项目背景与关键技术 · 第一版</a:t>
            </a:r>
          </a:p>
        </p:txBody>
      </p:sp>
    </p:spTree>
    <p:extLst>
      <p:ext uri="{BB962C8B-B14F-4D97-AF65-F5344CB8AC3E}">
        <p14:creationId xmlns:p14="http://schemas.microsoft.com/office/powerpoint/2010/main" val="10698410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E2EB10-079D-4ABD-89A3-655ED38BD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71"/>
          </a:bodyPr>
          <a:lstStyle xmlns:a="http://schemas.openxmlformats.org/drawingml/2006/main">
            <a:def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学习过程被多个工具切断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D014DB-4CEC-4E0A-8ECB-23848A4DB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资料、问答、测验和复习分别存在，学习状态难以连续积累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E2AA4D-EA89-4459-839A-1B1F0E528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239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8E8"/>
          </a:solidFill>
          <a:ln xmlns:a="http://schemas.openxmlformats.org/drawingml/2006/main" w="0">
            <a:solidFill>
              <a:srgbClr val="3978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D1D0E0-ED93-49F2-872C-58C5CAC28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5435E4-1278-4E7F-8ACE-03BE1E43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333625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A2CD89-24AF-47F4-9EA8-AA43881D1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328C4B-D7C9-4982-9A5A-FD7FA7BB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课程资料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1F7704-D274-42A1-9CAB-C8B1635E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9925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486"/>
          </a:bodyPr>
          <a:lstStyle xmlns:a="http://schemas.openxmlformats.org/drawingml/2006/main">
            <a:def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PDF 与课堂笔记分散，检索成本高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3B6B64-F0CE-4EE7-83E4-306915040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7432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760"/>
          </a:bodyPr>
          <a:lstStyle xmlns:a="http://schemas.openxmlformats.org/drawingml/2006/main">
            <a:defPPr algn="ctr"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5045A4-4A8A-402F-8791-0588CD04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1952625"/>
            <a:ext cx="2333625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CC6555-E551-4159-957C-BBE1BC269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13360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82E719-9441-4FAB-9280-C213943C4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2890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AI 问答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6956EF-FF5F-419E-918F-11206FF01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209925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通常只解决当下问题，缺少课程上下文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5CAA32-8B92-4EB5-8BB2-71C83D097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7432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760"/>
          </a:bodyPr>
          <a:lstStyle xmlns:a="http://schemas.openxmlformats.org/drawingml/2006/main">
            <a:defPPr algn="ctr"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9BAB41-653D-4E4D-8CB1-709F5403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52625"/>
            <a:ext cx="2333625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6AE5A2-DEFA-4EEC-8E65-E80392A9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3360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F3825C-643A-4102-B92D-53EDC03C9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2890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练习测验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CEB91B-6758-41F5-A5B8-A27CC6E0E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09925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错题留在一次结果中，难以持续训练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F7531B-AC61-4B08-BA78-7B0083E4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7432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760"/>
          </a:bodyPr>
          <a:lstStyle xmlns:a="http://schemas.openxmlformats.org/drawingml/2006/main">
            <a:defPPr algn="ctr"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01AF7A-47C2-4CC4-83A2-6BB7CEFB6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1952625"/>
            <a:ext cx="2333625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4CE640-D1ED-4221-9D20-5BE63B921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13360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6A9EDF-4FCE-455E-988F-D59A6E7C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62890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复习计划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5B495F-61FC-4449-8D69-B6C91C322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209925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依靠人工安排，容易忽略遗忘规律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805722-B59C-4B38-BF9A-DCC2A594A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910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3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3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3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3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3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3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3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3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3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D15F6B-3EC4-4480-B0A6-39C8B5BD2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514850"/>
            <a:ext cx="9382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信息存在，但掌握度、薄弱点和遗忘风险没有形成可持续的学习记录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DF64A7-E40A-4334-863B-C7BCA9851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5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5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5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5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5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5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5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5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5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项目目标：让系统持续记录学习行为，让模型负责生成内容，让 Java 负责判定状态与执行操作。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7B9067-47AB-4743-B775-2C8A1FC1B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rPr>
              <a:t>LearnAgent · Java 课程项目答辩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B7541C-BD74-41B2-8799-554209D7C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rPr>
              <a:t>2 / 11</a:t>
            </a:r>
          </a:p>
        </p:txBody>
      </p:sp>
    </p:spTree>
    <p:extLst>
      <p:ext uri="{BB962C8B-B14F-4D97-AF65-F5344CB8AC3E}">
        <p14:creationId xmlns:p14="http://schemas.microsoft.com/office/powerpoint/2010/main" val="4201416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CBBE3C-20EC-4EF8-B5B6-DBA4695796CE}"/>
              </a:ext>
            </a:extLst>
          </p:cNvPr>
          <p:cNvCxnSpPr>
            <a:stCxn xmlns:a="http://schemas.openxmlformats.org/drawingml/2006/main" id="16" idx="2"/>
            <a:endCxn xmlns:a="http://schemas.openxmlformats.org/drawingml/2006/main" id="5" idx="2"/>
          </p:cNvCxnSpPr>
          <p:nvPr/>
        </p:nvCxnSpPr>
        <p:spPr>
          <a:xfrm xmlns:a="http://schemas.openxmlformats.org/drawingml/2006/main" flipH="1">
            <a:off x="1190625" y="2924175"/>
            <a:ext cx="9772650" cy="228600"/>
          </a:xfrm>
          <a:prstGeom xmlns:a="http://schemas.openxmlformats.org/drawingml/2006/main" prst="bentConnector3">
            <a:avLst/>
          </a:prstGeom>
          <a:ln xmlns:a="http://schemas.openxmlformats.org/drawingml/2006/main" w="19050">
            <a:solidFill>
              <a:srgbClr val="36C7D4"/>
            </a:solidFill>
            <a:prstDash val="dash"/>
            <a:tailEnd type="arrow" w="sm" len="sm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790C24-20E0-4496-8194-138E4A9C6603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9991725" y="2533650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78E8"/>
            </a:solidFill>
            <a:prstDash val="solid"/>
            <a:tailEnd type="arrow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FBA472-515E-4DDC-AF02-595A4D8A5D50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362950" y="2533650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78E8"/>
            </a:solidFill>
            <a:prstDash val="solid"/>
            <a:tailEnd type="arrow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0E1A23-7556-4DAD-8B80-EDEBC92A3F64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6734175" y="2533650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5AD7E"/>
            </a:solidFill>
            <a:prstDash val="solid"/>
            <a:tailEnd type="arrow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55B543-B5E2-47FC-9EB5-5AAF15F2CA5D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105400" y="2533650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78E8"/>
            </a:solidFill>
            <a:prstDash val="solid"/>
            <a:tailEnd type="arrow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429191-0F69-467C-9447-DEBE9E9B8D85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476625" y="2533650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78E8"/>
            </a:solidFill>
            <a:prstDash val="solid"/>
            <a:tailEnd type="arrow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0CAA1E-3F2E-4517-9E02-D5D7DE8089B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1847850" y="2533650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78E8"/>
            </a:solidFill>
            <a:prstDash val="solid"/>
            <a:tailEnd type="arrow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9FEAB6-5AC6-49DC-B4B3-2ED3629EF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71"/>
          </a:bodyPr>
          <a:lstStyle xmlns:a="http://schemas.openxmlformats.org/drawingml/2006/main">
            <a:def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LearnAgent 将学习行为闭合为持续循环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F626AA-50B3-425A-9B07-450AFA1B7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每一步都会产生下一步可利用的数据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D3D90E-2AD6-4E24-A069-09D4951AC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239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8E8"/>
          </a:solidFill>
          <a:ln xmlns:a="http://schemas.openxmlformats.org/drawingml/2006/main" w="0">
            <a:solidFill>
              <a:srgbClr val="3978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D802A9-E23E-4EEF-99A3-332EA52CA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279386-D1EF-4B10-A28F-4BC573833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43125"/>
            <a:ext cx="13144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3978E8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课程资料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FA5345-AF24-4160-B8F7-50603DECC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143125"/>
            <a:ext cx="13144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978E8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AI 辅导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9FA7F4-BC77-4B8D-B0F9-955C09A4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143125"/>
            <a:ext cx="13144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978E8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自适应测验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40EAB9-DDF2-447E-8BE8-0B8867DC2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143125"/>
            <a:ext cx="13144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978E8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薄弱点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F3746F-0393-4905-82EA-153E3EDA6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143125"/>
            <a:ext cx="13144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8F8F3"/>
          </a:solidFill>
          <a:ln xmlns:a="http://schemas.openxmlformats.org/drawingml/2006/main" w="9525">
            <a:solidFill>
              <a:srgbClr val="45AD7E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FSRS 复习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34798A-8EDD-4751-A20E-A2D1C348F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143125"/>
            <a:ext cx="13144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978E8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周报复盘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83A700-29D1-41FB-9A40-537A6CCAC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143125"/>
            <a:ext cx="13144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3978E8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项目实践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A053B6-2ABE-469D-8FA7-B6755DE13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619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27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27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27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27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27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27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27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27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27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rPr>
              <a:t>学习结果回流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4C8E77-0832-4F76-A581-0C5131E6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7200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rPr>
              <a:t>有依据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6ABCEF-9C81-4090-846B-B0B918F50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01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答案、题目和记忆卡关联 PDF 页码或网页来源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3F6BBE-B66B-40D6-BA9E-DD339BFF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57200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rPr>
              <a:t>可计算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966B20-063B-4497-98D5-768636004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0101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正确率、掌握度和遗忘风险由 Java 确定性计算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777D37-D1FB-4687-931B-4B4F1CE24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57200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rPr>
              <a:t>可持续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1FB914-6B82-434A-943F-B92B8851B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0101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任务、复习队列与周报在重启后仍能继续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1FA4AE-445C-4E3E-B53F-61CA1E57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rPr>
              <a:t>LearnAgent · Java 课程项目答辩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E1AB0C-E55A-44DF-97EB-1E717BF76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rPr>
              <a:t>3 / 11</a:t>
            </a:r>
          </a:p>
        </p:txBody>
      </p:sp>
    </p:spTree>
    <p:extLst>
      <p:ext uri="{BB962C8B-B14F-4D97-AF65-F5344CB8AC3E}">
        <p14:creationId xmlns:p14="http://schemas.microsoft.com/office/powerpoint/2010/main" val="8592896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11A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7A00EB-B3FF-4BEA-AF5F-9F832540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71"/>
          </a:bodyPr>
          <a:lstStyle xmlns:a="http://schemas.openxmlformats.org/drawingml/2006/main">
            <a:defPPr algn="l"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关键技术拆解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9EDB66-4A41-4A4F-967E-523610B52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35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35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35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35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35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35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35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35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35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rPr>
              <a:t>功能场景、Java 机制、AI 数据技术和主流产品关联在同一条链路中说明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D17F05-8CC2-44E8-A17E-BCC0594A8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239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C7D4"/>
          </a:solidFill>
          <a:ln xmlns:a="http://schemas.openxmlformats.org/drawingml/2006/main" w="0">
            <a:solidFill>
              <a:srgbClr val="3978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789DDF-FD02-408F-A62C-FEE6DE96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125" b="1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125" b="1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125" b="1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125" b="1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125" b="1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125" b="1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125" b="1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125" b="1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125" b="1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125" b="1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2CFA77-DC8B-4C0C-91D3-6E816302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3143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6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6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6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6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6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6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6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6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6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60%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600B4E-77C1-4142-9D4E-893321D29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rPr>
              <a:t>Java 与 Spring 后端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20D35D-7D36-483C-AA9D-B565B2FD5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95700"/>
            <a:ext cx="3714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50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50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50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50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50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50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50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50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50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rPr>
              <a:t>业务状态、数据一致性、工具执行和安全边界都落在 Java 服务层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91B749-9443-46C8-9BFA-0A12E12D7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9526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rPr>
              <a:t>Java 业务核心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2A418B-36A4-4866-BA17-D5AF11B0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37172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rPr>
              <a:t>Spring Boot · JPA · Scheduler · NIO · JUnit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243AA9-5D18-4663-BF38-8E15E7BBE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0956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与数据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C1A4AB-323A-48CE-BD77-6FF18776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51472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rPr>
              <a:t>Spring AI · 本地 Embedding · PGVector · Tavily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B04F32-D7DA-4814-8635-D8C6BC3B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2386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用户体验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C1DFE3-C333-46C6-B2FC-FB42F392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65772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rPr>
              <a:t>Vue 3 · ECharts · Markdown · DOMPurify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3CDFF6-778C-4D7E-BEC7-2EB9A4E02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6172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8E8"/>
          </a:solidFill>
          <a:ln xmlns:a="http://schemas.openxmlformats.org/drawingml/2006/main" w="0">
            <a:solidFill>
              <a:srgbClr val="3978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0BC127-689C-4FEC-8DB4-5806F8F8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05450"/>
            <a:ext cx="6172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Java 60%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6F09FB-5DEB-4216-8B41-3A3911A80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42925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C7D4"/>
          </a:solidFill>
          <a:ln xmlns:a="http://schemas.openxmlformats.org/drawingml/2006/main" w="0">
            <a:solidFill>
              <a:srgbClr val="36C7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031283-EA2B-4441-8ED7-FFF626159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5054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/ Data 25%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00DEF0-72E5-4D2E-96D9-4ABC155D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429250"/>
            <a:ext cx="1543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CF2"/>
          </a:solidFill>
          <a:ln xmlns:a="http://schemas.openxmlformats.org/drawingml/2006/main" w="0">
            <a:solidFill>
              <a:srgbClr val="7C6C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D64AAC-BC8C-400A-8CA9-3FCEB476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505450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Frontend 15%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E5F7DE-B1F1-483D-B71D-9C934193F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rPr>
              <a:t>LearnAgent · Java 课程项目答辩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4C82B0-A247-4C51-B505-019C0ECB9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rPr>
              <a:t>4 / 11</a:t>
            </a:r>
          </a:p>
        </p:txBody>
      </p:sp>
    </p:spTree>
    <p:extLst>
      <p:ext uri="{BB962C8B-B14F-4D97-AF65-F5344CB8AC3E}">
        <p14:creationId xmlns:p14="http://schemas.microsoft.com/office/powerpoint/2010/main" val="5770695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71AC34-AC63-402A-966F-7F8E25134061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2857500" y="430530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DA4CF"/>
            </a:solidFill>
            <a:prstDash val="solid"/>
            <a:tailEnd type="arrow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C8DA35-90B1-48B3-A339-331B6E86A579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2857500" y="339090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DA4CF"/>
            </a:solidFill>
            <a:prstDash val="solid"/>
            <a:tailEnd type="arrow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380706-05E5-45B4-A633-D774BDCFF1BC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2857500" y="247650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DA4CF"/>
            </a:solidFill>
            <a:prstDash val="solid"/>
            <a:tailEnd type="arrow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A0921E-7C8C-4E25-B0DF-83E792CE1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71"/>
          </a:bodyPr>
          <a:lstStyle xmlns:a="http://schemas.openxmlformats.org/drawingml/2006/main">
            <a:def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Java 服务层承载业务状态和所有副作用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76EEE7-09B3-49FE-AFD0-47BA7BD5C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分层架构让模型能力与真实数据操作保持清晰边界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3C57A2-0121-4FCB-BC86-9C36B8C00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239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8E8"/>
          </a:solidFill>
          <a:ln xmlns:a="http://schemas.openxmlformats.org/drawingml/2006/main" w="0">
            <a:solidFill>
              <a:srgbClr val="3978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E2CDC6-25EF-471F-80CA-D939AE116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27CE02-6C95-465E-8225-C53CFB1C5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000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73F542-9A98-4716-A4A9-077CCFB7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3357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Controller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E157F5-97DC-4858-B1DB-85BA2D95A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971675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REST API · 参数校验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BEDAAF-0C83-4C09-95E9-4C828952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4000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DEBFF"/>
          </a:solidFill>
          <a:ln xmlns:a="http://schemas.openxmlformats.org/drawingml/2006/main" w="9525">
            <a:solidFill>
              <a:srgbClr val="3978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CEAA27-14B0-436E-93DA-8B4A697CA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4797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rPr>
              <a:t>Service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32AB63-9E10-47EB-8718-E6A7FA0D0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886075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学习规则 · 事务 · Tool 执行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B3B403-FD80-45F4-A065-224D973A4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38550"/>
            <a:ext cx="4000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8F8F3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3D37D1-72F3-4942-BCA0-8BE31A5D9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6237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Repository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33149-7CAF-44E6-8364-83C24C654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800475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Spring Data JPA · 查询抽象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9A4FCD-1730-471B-96A8-39561F1F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52950"/>
            <a:ext cx="4000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0F3F8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88577A-79DC-411B-86F8-894DAE05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7677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PostgreSQL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163AC2-991F-42EC-876A-44AD1C5E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714875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课程 · 测验 · 任务 · 复习状态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A07168-85C5-45F4-9BC0-308C5E98A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4000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11A33"/>
          </a:solidFill>
          <a:ln xmlns:a="http://schemas.openxmlformats.org/drawingml/2006/main" w="9525">
            <a:solidFill>
              <a:srgbClr val="111A33"/>
            </a:solidFill>
            <a:prstDash val="solid"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JAVA 21 + SPRING BOOT 3.4.5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A75A0E-74AD-4446-822F-0C0C943D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809750"/>
            <a:ext cx="381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0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0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0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0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0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0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0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0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Java 知识如何进入系统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7DEA47-C1B5-4875-9409-0B397DCAF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419350"/>
            <a:ext cx="52387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00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500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500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500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500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500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500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500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500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500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41300" indent="-114300">
              <a:lnSpc>
                <a:spcPct val="114000"/>
              </a:lnSpc>
              <a:spcAft>
                <a:spcPts val="800"/>
              </a:spcAft>
              <a:buNone/>
              <a:defRPr sz="1500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面向对象与接口：Controller、Service、Repository 各自负责一种职责</a:t>
            </a:r>
          </a:p>
          <a:p xmlns:a="http://schemas.openxmlformats.org/drawingml/2006/main">
            <a:pPr marL="241300" indent="-114300">
              <a:lnSpc>
                <a:spcPct val="114000"/>
              </a:lnSpc>
              <a:spcAft>
                <a:spcPts val="800"/>
              </a:spcAft>
              <a:buNone/>
              <a:defRPr sz="1500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record 与 enum：表达 DTO、会话状态、评分和学习策略</a:t>
            </a:r>
          </a:p>
          <a:p xmlns:a="http://schemas.openxmlformats.org/drawingml/2006/main">
            <a:pPr marL="241300" indent="-114300">
              <a:lnSpc>
                <a:spcPct val="114000"/>
              </a:lnSpc>
              <a:spcAft>
                <a:spcPts val="800"/>
              </a:spcAft>
              <a:buNone/>
              <a:defRPr sz="1500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泛型、集合与 Stream：聚合答题记录、排序薄弱点、生成统计</a:t>
            </a:r>
          </a:p>
          <a:p xmlns:a="http://schemas.openxmlformats.org/drawingml/2006/main">
            <a:pPr marL="241300" indent="-114300">
              <a:lnSpc>
                <a:spcPct val="114000"/>
              </a:lnSpc>
              <a:spcAft>
                <a:spcPts val="800"/>
              </a:spcAft>
              <a:buNone/>
              <a:defRPr sz="1500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异常处理与校验：阻止非法文件、重复提交和越界路径</a:t>
            </a:r>
          </a:p>
          <a:p xmlns:a="http://schemas.openxmlformats.org/drawingml/2006/main">
            <a:pPr marL="241300" indent="-114300">
              <a:lnSpc>
                <a:spcPct val="114000"/>
              </a:lnSpc>
              <a:spcAft>
                <a:spcPts val="800"/>
              </a:spcAft>
              <a:buNone/>
              <a:defRPr sz="1500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@Transactional 与 JPA：保证状态更新和日志写入保持一致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B52907-A6E5-4E9D-905C-33C3451F3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5721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3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3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3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3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3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3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3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3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3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rPr>
              <a:t>设计原则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E55C37-BC16-4244-B08E-B579D4D00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514975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562"/>
          </a:bodyPr>
          <a:lstStyle xmlns:a="http://schemas.openxmlformats.org/drawingml/2006/main">
            <a:defPPr algn="l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模型提出动作，Java 决定能否执行，并记录真实结果。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D16D7F-EB3C-493B-8141-0159857DB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rPr>
              <a:t>LearnAgent · Java 课程项目答辩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9D69C8-C1F6-41D6-9032-AE70363F9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rPr>
              <a:t>5 / 11</a:t>
            </a:r>
          </a:p>
        </p:txBody>
      </p:sp>
    </p:spTree>
    <p:extLst>
      <p:ext uri="{BB962C8B-B14F-4D97-AF65-F5344CB8AC3E}">
        <p14:creationId xmlns:p14="http://schemas.microsoft.com/office/powerpoint/2010/main" val="16071983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F76B0F-3EAC-4D6F-B6EA-CF18CC5AA7FC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9610725" y="2600325"/>
            <a:ext cx="4857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78E8"/>
            </a:solidFill>
            <a:prstDash val="solid"/>
            <a:tailEnd type="arrow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E70961-C911-401F-AD77-C47626FF1826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696200" y="2600325"/>
            <a:ext cx="4857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5AD7E"/>
            </a:solidFill>
            <a:prstDash val="solid"/>
            <a:tailEnd type="arrow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5C2718-698F-49AD-B538-801F40D94542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781675" y="2600325"/>
            <a:ext cx="4857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78E8"/>
            </a:solidFill>
            <a:prstDash val="solid"/>
            <a:tailEnd type="arrow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9F7ACD-C9F6-449D-89B9-DFA71C17840C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67150" y="2600325"/>
            <a:ext cx="4857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78E8"/>
            </a:solidFill>
            <a:prstDash val="solid"/>
            <a:tailEnd type="arrow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1E61C7-6154-417C-9E2A-D6A2B2FC5D0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1952625" y="2600325"/>
            <a:ext cx="4857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78E8"/>
            </a:solidFill>
            <a:prstDash val="solid"/>
            <a:tailEnd type="arrow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8B991D-B53C-4A68-975F-FCD53C3C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71"/>
          </a:bodyPr>
          <a:lstStyle xmlns:a="http://schemas.openxmlformats.org/drawingml/2006/main">
            <a:def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课程资料进入本地可检索知识库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F9C28F-BA01-47F9-9FE5-93DE23394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RAG 让回答和测验建立在课程证据上，而不是依赖模型记忆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13FF16-59CD-43C0-B86F-BA91A918D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239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8E8"/>
          </a:solidFill>
          <a:ln xmlns:a="http://schemas.openxmlformats.org/drawingml/2006/main" w="0">
            <a:solidFill>
              <a:srgbClr val="3978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7AF5AB-FF85-430B-809D-C2CD275C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1C0193-C1F2-4B20-8F29-AB46DEB39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38375"/>
            <a:ext cx="1428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PDF 上传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0E68E3-A394-4517-B9A0-9CA56B3E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238375"/>
            <a:ext cx="1428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PDFBox 提取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D6FAC0-41DF-40AA-8699-AF7445FE1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238375"/>
            <a:ext cx="1428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Java 文本切分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C0897E-A19D-47CF-9325-9D2ABF46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38375"/>
            <a:ext cx="1428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8F8F3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本地 Embedding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B4B161-9208-41D6-B41D-CE4170B9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238375"/>
            <a:ext cx="1428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8F8F3"/>
          </a:solidFill>
          <a:ln xmlns:a="http://schemas.openxmlformats.org/drawingml/2006/main" w="9525">
            <a:solidFill>
              <a:srgbClr val="45AD7E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PGVector 检索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DB3D0A-188C-4B2F-A35E-1F86AAF83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238375"/>
            <a:ext cx="1428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Spring AI 生成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7D7453-D1CD-447A-B1E4-659EC9EBD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Java 在链路中的作用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026993-A712-4F3C-AC8A-38B8C0DAB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38625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425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425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425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425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425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425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425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425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425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425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41300" indent="-114300">
              <a:lnSpc>
                <a:spcPct val="114000"/>
              </a:lnSpc>
              <a:spcAft>
                <a:spcPts val="700"/>
              </a:spcAft>
              <a:buNone/>
              <a:defRPr sz="1425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使用 UUID 元数据隔离不同课程</a:t>
            </a:r>
          </a:p>
          <a:p xmlns:a="http://schemas.openxmlformats.org/drawingml/2006/main">
            <a:pPr marL="241300" indent="-114300">
              <a:lnSpc>
                <a:spcPct val="114000"/>
              </a:lnSpc>
              <a:spcAft>
                <a:spcPts val="700"/>
              </a:spcAft>
              <a:buNone/>
              <a:defRPr sz="1425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通过泛型与 Stream 处理分块和来源去重</a:t>
            </a:r>
          </a:p>
          <a:p xmlns:a="http://schemas.openxmlformats.org/drawingml/2006/main">
            <a:pPr marL="241300" indent="-114300">
              <a:lnSpc>
                <a:spcPct val="114000"/>
              </a:lnSpc>
              <a:spcAft>
                <a:spcPts val="700"/>
              </a:spcAft>
              <a:buNone/>
              <a:defRPr sz="1425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用接口抽象 Embedding 与 VectorStore</a:t>
            </a:r>
          </a:p>
          <a:p xmlns:a="http://schemas.openxmlformats.org/drawingml/2006/main">
            <a:pPr marL="241300" indent="-114300">
              <a:lnSpc>
                <a:spcPct val="114000"/>
              </a:lnSpc>
              <a:spcAft>
                <a:spcPts val="700"/>
              </a:spcAft>
              <a:buNone/>
              <a:defRPr sz="1425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异常路径返回明确提示，系统仍可降级运行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82FD85-F118-4030-8E25-EF918FA6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147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与主流方案的关系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23872D-AFE4-4D87-BA37-14ADC097A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57675"/>
            <a:ext cx="461962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50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50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50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50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50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50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50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50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50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38000"/>
              </a:lnSpc>
              <a:buNone/>
              <a:defRPr sz="150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Spring AI 提供模型、结构化输出、VectorStore 和 Tool Calling 抽象；PGVector 在 PostgreSQL 中保存向量并支持余弦距离检索。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E62B77-85D4-4D7A-A990-648D0E935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524500"/>
            <a:ext cx="12382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5AD7E"/>
          </a:solidFill>
          <a:ln xmlns:a="http://schemas.openxmlformats.org/drawingml/2006/main" w="9525">
            <a:solidFill>
              <a:srgbClr val="45AD7E"/>
            </a:solidFill>
            <a:prstDash val="solid"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LOCAL-FIRST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C5FFCC-B4F7-45D7-8C92-36848E994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5245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603"/>
          </a:bodyPr>
          <a:lstStyle xmlns:a="http://schemas.openxmlformats.org/drawingml/2006/main">
            <a:defPPr algn="l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Embedding 缓存在 D 盘，文档处理不消耗模型额度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14619D-9D8C-496D-B0AB-4B86C7E86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rPr>
              <a:t>LearnAgent · Java 课程项目答辩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82C1E8-5711-486D-AE45-04F391A3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rPr>
              <a:t>6 / 11</a:t>
            </a:r>
          </a:p>
        </p:txBody>
      </p:sp>
    </p:spTree>
    <p:extLst>
      <p:ext uri="{BB962C8B-B14F-4D97-AF65-F5344CB8AC3E}">
        <p14:creationId xmlns:p14="http://schemas.microsoft.com/office/powerpoint/2010/main" val="3473788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34A23B-A412-46CB-A1A1-9286E1FDFAD9}"/>
              </a:ext>
            </a:extLst>
          </p:cNvPr>
          <p:cNvCxnSpPr>
            <a:stCxn xmlns:a="http://schemas.openxmlformats.org/drawingml/2006/main" id="10" idx="0"/>
            <a:endCxn xmlns:a="http://schemas.openxmlformats.org/drawingml/2006/main" id="7" idx="2"/>
          </p:cNvCxnSpPr>
          <p:nvPr/>
        </p:nvCxnSpPr>
        <p:spPr>
          <a:xfrm xmlns:a="http://schemas.openxmlformats.org/drawingml/2006/main" flipV="1">
            <a:off x="1714500" y="2628900"/>
            <a:ext cx="0" cy="5619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C7D4"/>
            </a:solidFill>
            <a:prstDash val="dash"/>
            <a:tailEnd type="arrow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CD66AB-3EE1-4BB5-87FA-D4596399381D}"/>
              </a:ext>
            </a:extLst>
          </p:cNvPr>
          <p:cNvCxnSpPr>
            <a:stCxn xmlns:a="http://schemas.openxmlformats.org/drawingml/2006/main" id="9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2667000" y="350520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78E8"/>
            </a:solidFill>
            <a:prstDash val="solid"/>
            <a:tailEnd type="arrow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360119-3A38-447D-B604-11003229B59B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4143375" y="2628900"/>
            <a:ext cx="0" cy="5619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78E8"/>
            </a:solidFill>
            <a:prstDash val="solid"/>
            <a:tailEnd type="arrow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1F73B7-3F52-4888-A58E-F800EA04E283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667000" y="231457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78E8"/>
            </a:solidFill>
            <a:prstDash val="solid"/>
            <a:tailEnd type="arrow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E69C85-EAB6-41F3-996D-657D1AD6F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71"/>
          </a:bodyPr>
          <a:lstStyle xmlns:a="http://schemas.openxmlformats.org/drawingml/2006/main">
            <a:def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模型负责生成，Java 负责判定与执行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2712A4-FCDF-4D1D-93FB-28305326A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自适应测试将开放式模型能力放进可验证的学习会话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3F7328-C223-44F2-B739-49CB94886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239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8E8"/>
          </a:solidFill>
          <a:ln xmlns:a="http://schemas.openxmlformats.org/drawingml/2006/main" w="0">
            <a:solidFill>
              <a:srgbClr val="3978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9D795F-BC22-4AB7-9279-C48F3C6A2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1ACD23-2410-46C0-BB2B-82A98D581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66875"/>
            <a:ext cx="5095875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AD15B7-1C7E-487B-92E8-7C54F1F047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b1e88ea6ad40da"/>
          <a:stretch xmlns:a="http://schemas.openxmlformats.org/drawingml/2006/main"/>
        </p:blipFill>
        <p:spPr>
          <a:xfrm xmlns:a="http://schemas.openxmlformats.org/drawingml/2006/main">
            <a:off x="6448425" y="2298204"/>
            <a:ext cx="4867275" cy="2737842"/>
          </a:xfrm>
          <a:prstGeom xmlns:a="http://schemas.openxmlformats.org/drawingml/2006/main" prst="roundRect">
            <a:avLst>
              <a:gd name="adj" fmla="val 2030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40B9C0-8E59-4B30-A1D7-2C9821A05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905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课程资料与网络来源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9277CF-ECDB-479D-A6FD-2567C68E7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00250"/>
            <a:ext cx="1619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3978E8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AI 生成 5 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8A5CAA-55CC-4BB6-BE5B-0CD17E1B8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90875"/>
            <a:ext cx="1619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DDEBFF"/>
          </a:solidFill>
          <a:ln xmlns:a="http://schemas.openxmlformats.org/drawingml/2006/main" w="9525">
            <a:solidFill>
              <a:srgbClr val="3978E8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Java 判题与聚合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8FC19F-C76A-467C-BB8B-153062531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1905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下一轮策略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17EDFA-9203-42FE-807C-026FB288E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rPr>
              <a:t>总正确率 ≥ 80%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A54798-E0FC-421D-AB53-EB14380C8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476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45AD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1">
                <a:solidFill>
                  <a:srgbClr val="45AD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1">
                <a:solidFill>
                  <a:srgbClr val="45AD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1">
                <a:solidFill>
                  <a:srgbClr val="45AD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1">
                <a:solidFill>
                  <a:srgbClr val="45AD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1">
                <a:solidFill>
                  <a:srgbClr val="45AD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1">
                <a:solidFill>
                  <a:srgbClr val="45AD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1">
                <a:solidFill>
                  <a:srgbClr val="45AD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1">
                <a:solidFill>
                  <a:srgbClr val="45AD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1">
                <a:solidFill>
                  <a:srgbClr val="45AD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45A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45AD7E"/>
                </a:solidFill>
                <a:latin typeface="Microsoft YaHei"/>
                <a:ea typeface="Microsoft YaHei"/>
                <a:cs typeface="Microsoft YaHei"/>
              </a:rPr>
              <a:t>每个知识点 ≥ 60%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99BF49-757D-4824-8D96-F8C009C00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000625"/>
            <a:ext cx="4524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Map 聚合知识点表现，enum 表达训练策略，状态机限制最多三轮。模型不计算成绩，也不能声称未执行的任务已经完成。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29493A-20A3-4CBC-B297-746FA6A21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rPr>
              <a:t>LearnAgent · Java 课程项目答辩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112D78-E229-4ED1-878E-2F11ED631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rPr>
              <a:t>7 / 11</a:t>
            </a:r>
          </a:p>
        </p:txBody>
      </p:sp>
    </p:spTree>
    <p:extLst>
      <p:ext uri="{BB962C8B-B14F-4D97-AF65-F5344CB8AC3E}">
        <p14:creationId xmlns:p14="http://schemas.microsoft.com/office/powerpoint/2010/main" val="134928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3FC0AC-0592-4A70-9BF9-7A50F6A01F37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9315450" y="2619375"/>
            <a:ext cx="4857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78E8"/>
            </a:solidFill>
            <a:prstDash val="solid"/>
            <a:tailEnd type="arrow" w="sm" len="sm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051B51-20A2-46B0-B1EB-02AF664D6547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7019925" y="2619375"/>
            <a:ext cx="4857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5AD7E"/>
            </a:solidFill>
            <a:prstDash val="solid"/>
            <a:tailEnd type="arrow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4C21A5-3CFB-421A-9B0B-DC57B94724F6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724400" y="2619375"/>
            <a:ext cx="4857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78E8"/>
            </a:solidFill>
            <a:prstDash val="solid"/>
            <a:tailEnd type="arrow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48AFC2-767C-4B1A-BFA5-571859A5DD9C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428875" y="2619375"/>
            <a:ext cx="4857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78E8"/>
            </a:solidFill>
            <a:prstDash val="solid"/>
            <a:tailEnd type="arrow" w="sm" len="sm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294F74F-9B4E-45A9-A241-80527C56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71"/>
          </a:bodyPr>
          <a:lstStyle xmlns:a="http://schemas.openxmlformats.org/drawingml/2006/main">
            <a:def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FSRS 将一次错题转为长期复习计划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76E03A-2FF5-4B2A-8A1E-7F8D161DE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AI 生成候选内容，复习时间和遗忘风险由 Java 本地计算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2AF626-318A-431B-9953-9626E62F0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239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8E8"/>
          </a:solidFill>
          <a:ln xmlns:a="http://schemas.openxmlformats.org/drawingml/2006/main" w="0">
            <a:solidFill>
              <a:srgbClr val="3978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F2BBF3-8CB1-433E-97C4-E665F5C1B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5FE942-646E-418C-91D6-710A64ABD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47875"/>
            <a:ext cx="1809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86C4F3-4E90-4F45-B7AD-828714A9C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22885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错题或课程资料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517B7F-A211-4F02-AEB6-0B6DE3D46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68605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来源可追溯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D8ED5F-E790-4C36-B642-A2B31D227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47875"/>
            <a:ext cx="1809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E5E5B6-720A-4E4B-8989-96CAAC66D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2885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候选卡确认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2BC6E7-A758-4EDF-88CF-C57D7541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8605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用户先审核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BE66DF-803E-4AE7-877D-5890A5B17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047875"/>
            <a:ext cx="1809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F7EE25-1008-4A67-8BAE-D7FB089C5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22885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四档评分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3ADEA4-0875-4CDE-8F09-A7EA94960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68605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790"/>
          </a:bodyPr>
          <a:lstStyle xmlns:a="http://schemas.openxmlformats.org/drawingml/2006/main">
            <a:def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Again / Hard / Good / Easy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08FDB1-9AD8-4CDF-9CE4-A29A7F5B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047875"/>
            <a:ext cx="1809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8F8F3"/>
          </a:solidFill>
          <a:ln xmlns:a="http://schemas.openxmlformats.org/drawingml/2006/main" w="9525">
            <a:solidFill>
              <a:srgbClr val="45AD7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73EDBD-7AFE-4F83-9D34-6CCC9985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22885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Java-FSRS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5652A0-E202-4343-A7B5-E7FC6B88F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68605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计算稳定性与到期时间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56095B-9234-42D7-9EC7-6C1105EB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047875"/>
            <a:ext cx="1809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F7DAC0-93D3-42BE-998A-A342F386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222885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知识地图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E08B9C-2826-44C3-97E7-597DC7809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268605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汇总掌握度与遗忘风险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14799F-BEB6-4B03-AB38-6234305F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9575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850" b="1">
                <a:solidFill>
                  <a:srgbClr val="45AD7E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2850" b="1">
                <a:solidFill>
                  <a:srgbClr val="45AD7E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2850" b="1">
                <a:solidFill>
                  <a:srgbClr val="45AD7E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2850" b="1">
                <a:solidFill>
                  <a:srgbClr val="45AD7E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2850" b="1">
                <a:solidFill>
                  <a:srgbClr val="45AD7E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2850" b="1">
                <a:solidFill>
                  <a:srgbClr val="45AD7E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2850" b="1">
                <a:solidFill>
                  <a:srgbClr val="45AD7E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2850" b="1">
                <a:solidFill>
                  <a:srgbClr val="45AD7E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2850" b="1">
                <a:solidFill>
                  <a:srgbClr val="45AD7E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2850" b="1">
                <a:solidFill>
                  <a:srgbClr val="45AD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2850" b="1">
                <a:solidFill>
                  <a:srgbClr val="45A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45AD7E"/>
                </a:solidFill>
                <a:latin typeface="Microsoft YaHei"/>
                <a:ea typeface="Microsoft YaHei"/>
                <a:cs typeface="Microsoft YaHei"/>
              </a:rPr>
              <a:t>90%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B4D594-3867-448E-A91D-3EFE4120B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625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目标留存率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BBEB20-A22C-4460-9686-BAC580F9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09575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rPr>
              <a:t>20 张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35B50A-7516-419F-9CDF-57809B34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7625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每日上限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CDBE77-8EED-4DC2-B0E9-1AB50AE5D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09575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rPr>
              <a:t>15 分钟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16F06C-E203-4AC4-8250-14F434996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7625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时间上限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95367F-89C1-4DA2-B134-FEFBE9F3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09575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rPr>
              <a:t>0 次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5163AD-7172-4B3B-B10A-4A1E4E086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7625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评分模型调用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FB4502-2F9E-47EB-BB90-B9765FB52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19750"/>
            <a:ext cx="971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897"/>
          </a:bodyPr>
          <a:lstStyle xmlns:a="http://schemas.openxmlformats.org/drawingml/2006/main">
            <a:def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Java 知识点：第三方库封装、Instant 与 Duration、不可变 Review Log、JPA 实体关系、优先队列排序和定时任务。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C9B1379-5B8C-4923-9EF1-59E97B8BA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rPr>
              <a:t>LearnAgent · Java 课程项目答辩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DCC0A8-EC48-4A93-A74B-E79866A4B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rPr>
              <a:t>8 / 11</a:t>
            </a:r>
          </a:p>
        </p:txBody>
      </p:sp>
    </p:spTree>
    <p:extLst>
      <p:ext uri="{BB962C8B-B14F-4D97-AF65-F5344CB8AC3E}">
        <p14:creationId xmlns:p14="http://schemas.microsoft.com/office/powerpoint/2010/main" val="11503712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ED9EFE-4A52-4677-B637-58EDE19F8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71"/>
          </a:bodyPr>
          <a:lstStyle xmlns:a="http://schemas.openxmlformats.org/drawingml/2006/main">
            <a:def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后台调度与项目工作区都受 Java 规则约束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A9E209-434A-4549-AC84-006562680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主动推送、可追溯资料与本地文件操作共享同一套审计边界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48658E-8B87-4906-B019-FFFA02DDF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239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8E8"/>
          </a:solidFill>
          <a:ln xmlns:a="http://schemas.openxmlformats.org/drawingml/2006/main" w="0">
            <a:solidFill>
              <a:srgbClr val="3978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DF8F39-C56B-482E-ADAA-080CC607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D0863E-C60C-45B3-8898-FC1C0E3A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47625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647DB1-DAF6-4152-8054-C45987CA6A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d01d06163b43d4"/>
          <a:stretch xmlns:a="http://schemas.openxmlformats.org/drawingml/2006/main"/>
        </p:blipFill>
        <p:spPr>
          <a:xfrm xmlns:a="http://schemas.openxmlformats.org/drawingml/2006/main">
            <a:off x="965200" y="1828800"/>
            <a:ext cx="4165600" cy="2343150"/>
          </a:xfrm>
          <a:prstGeom xmlns:a="http://schemas.openxmlformats.org/drawingml/2006/main" prst="roundRect">
            <a:avLst>
              <a:gd name="adj" fmla="val 325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CFE294-525B-47CC-9C0A-6E5EF2DCE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14500"/>
            <a:ext cx="47625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616A82-5BE4-4D61-8E38-4F1E0AC8E3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27ca4932184d6d"/>
          <a:stretch xmlns:a="http://schemas.openxmlformats.org/drawingml/2006/main"/>
        </p:blipFill>
        <p:spPr>
          <a:xfrm xmlns:a="http://schemas.openxmlformats.org/drawingml/2006/main">
            <a:off x="7061200" y="1828800"/>
            <a:ext cx="4165600" cy="2343150"/>
          </a:xfrm>
          <a:prstGeom xmlns:a="http://schemas.openxmlformats.org/drawingml/2006/main" prst="roundRect">
            <a:avLst>
              <a:gd name="adj" fmla="val 3252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56E672-1C34-4CB2-984C-3C32E8579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148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主动学习调度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0EB747-65F8-45E8-BE01-D7CBD5A33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4476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@Scheduled 按时生成资料与周报；唯一键与启动补偿避免重复。统计先由 Java 聚合，AI 只撰写总结。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F01F72-6CCF-452A-9610-8BAF8B045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5148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本地项目安全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62BFC9-7B4D-416B-89E2-4F3E7419F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953000"/>
            <a:ext cx="4476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NIO Path 规范化、扩展名白名单、符号链接检查和 ProcessBuilder 限制文件系统副作用。普通项目不会误执行 Maven。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983E17-8133-48E1-85BC-8646A5405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rPr>
              <a:t>LearnAgent · Java 课程项目答辩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910B02-11B5-433B-9DE0-A25DB57F5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rPr>
              <a:t>9 / 11</a:t>
            </a:r>
          </a:p>
        </p:txBody>
      </p:sp>
    </p:spTree>
    <p:extLst>
      <p:ext uri="{BB962C8B-B14F-4D97-AF65-F5344CB8AC3E}">
        <p14:creationId xmlns:p14="http://schemas.microsoft.com/office/powerpoint/2010/main" val="210797451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061EA6-0557-4DF3-AD18-B50AC2F42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71"/>
          </a:bodyPr>
          <a:lstStyle xmlns:a="http://schemas.openxmlformats.org/drawingml/2006/main">
            <a:def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主流产品思路被转化为可验证的本地实现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ABB278-3BED-4C7C-B292-909501250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借鉴交互与学习科学原则，业务数据和安全边界由 LearnAgent 自己控制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114D27-3075-4B88-9846-AEF791D08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239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8E8"/>
          </a:solidFill>
          <a:ln xmlns:a="http://schemas.openxmlformats.org/drawingml/2006/main" w="0">
            <a:solidFill>
              <a:srgbClr val="3978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E6F12B-605F-46EC-927E-ACD2A33A4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2FB7A5-D7B2-41C0-B70D-E656ED9CDB68}"/>
              </a:ext>
            </a:extLst>
          </p:cNvPr>
          <p:cNvGraphicFramePr/>
          <p:nvPr/>
        </p:nvGraphicFramePr>
        <p:xfrm>
          <a:off xmlns:a="http://schemas.openxmlformats.org/drawingml/2006/main" x="742950" y="1762125"/>
          <a:ext xmlns:a="http://schemas.openxmlformats.org/drawingml/2006/main" cx="10706100" cy="3714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333625"/>
                <a:gridCol w="3333750"/>
                <a:gridCol w="5038725"/>
              </a:tblGrid>
              <a:tr h="6191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主流方案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DCE4F0"/>
                      </a:solidFill>
                      <a:prstDash val="solid"/>
                    </a:lnL>
                    <a:lnR w="9525">
                      <a:solidFill>
                        <a:srgbClr val="DCE4F0"/>
                      </a:solidFill>
                      <a:prstDash val="solid"/>
                    </a:lnR>
                    <a:lnT w="9525">
                      <a:solidFill>
                        <a:srgbClr val="DCE4F0"/>
                      </a:solidFill>
                      <a:prstDash val="solid"/>
                    </a:lnT>
                    <a:lnB w="9525">
                      <a:solidFill>
                        <a:srgbClr val="DCE4F0"/>
                      </a:solidFill>
                      <a:prstDash val="solid"/>
                    </a:lnB>
                    <a:solidFill>
                      <a:srgbClr val="111A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借鉴的思路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DCE4F0"/>
                      </a:solidFill>
                      <a:prstDash val="solid"/>
                    </a:lnR>
                    <a:lnT w="9525">
                      <a:solidFill>
                        <a:srgbClr val="DCE4F0"/>
                      </a:solidFill>
                      <a:prstDash val="solid"/>
                    </a:lnT>
                    <a:lnB w="9525">
                      <a:solidFill>
                        <a:srgbClr val="DCE4F0"/>
                      </a:solidFill>
                      <a:prstDash val="solid"/>
                    </a:lnB>
                    <a:solidFill>
                      <a:srgbClr val="111A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LearnAgent 的本地实现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DCE4F0"/>
                      </a:solidFill>
                      <a:prstDash val="solid"/>
                    </a:lnR>
                    <a:lnT w="9525">
                      <a:solidFill>
                        <a:srgbClr val="DCE4F0"/>
                      </a:solidFill>
                      <a:prstDash val="solid"/>
                    </a:lnT>
                    <a:lnB w="9525">
                      <a:solidFill>
                        <a:srgbClr val="DCE4F0"/>
                      </a:solidFill>
                      <a:prstDash val="solid"/>
                    </a:lnB>
                    <a:solidFill>
                      <a:srgbClr val="111A33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D2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ChatGPT Study Mode</a:t>
                      </a:r>
                    </a:p>
                  </a:txBody>
                  <a:tcPr marL="95250" marR="95250" marT="66675" marB="66675">
                    <a:lnL w="9525">
                      <a:solidFill>
                        <a:srgbClr val="DCE4F0"/>
                      </a:solidFill>
                      <a:prstDash val="solid"/>
                    </a:lnL>
                    <a:lnR w="9525">
                      <a:solidFill>
                        <a:srgbClr val="DCE4F0"/>
                      </a:solidFill>
                      <a:prstDash val="solid"/>
                    </a:lnR>
                    <a:lnB w="9525">
                      <a:solidFill>
                        <a:srgbClr val="DCE4F0"/>
                      </a:solidFill>
                      <a:prstDash val="soli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D2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引导提问、分层解释、理解检查</a:t>
                      </a:r>
                    </a:p>
                  </a:txBody>
                  <a:tcPr marL="95250" marR="95250" marT="66675" marB="66675">
                    <a:lnR w="9525">
                      <a:solidFill>
                        <a:srgbClr val="DCE4F0"/>
                      </a:solidFill>
                      <a:prstDash val="solid"/>
                    </a:lnR>
                    <a:lnB w="9525">
                      <a:solidFill>
                        <a:srgbClr val="DCE4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D2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自适应会话、错题解释、三轮策略</a:t>
                      </a:r>
                    </a:p>
                  </a:txBody>
                  <a:tcPr marL="95250" marR="95250" marT="66675" marB="66675">
                    <a:lnR w="9525">
                      <a:solidFill>
                        <a:srgbClr val="DCE4F0"/>
                      </a:solidFill>
                      <a:prstDash val="solid"/>
                    </a:lnR>
                    <a:lnB w="9525">
                      <a:solidFill>
                        <a:srgbClr val="DCE4F0"/>
                      </a:solidFill>
                      <a:prstDash val="solid"/>
                    </a:lnB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D2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Google LearnLM</a:t>
                      </a:r>
                    </a:p>
                  </a:txBody>
                  <a:tcPr marL="95250" marR="95250" marT="66675" marB="66675">
                    <a:lnL w="9525">
                      <a:solidFill>
                        <a:srgbClr val="DCE4F0"/>
                      </a:solidFill>
                      <a:prstDash val="solid"/>
                    </a:lnL>
                    <a:lnR w="9525">
                      <a:solidFill>
                        <a:srgbClr val="DCE4F0"/>
                      </a:solidFill>
                      <a:prstDash val="solid"/>
                    </a:lnR>
                    <a:lnB w="9525">
                      <a:solidFill>
                        <a:srgbClr val="DCE4F0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D2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主动学习、适应目标、元认知</a:t>
                      </a:r>
                    </a:p>
                  </a:txBody>
                  <a:tcPr marL="95250" marR="95250" marT="66675" marB="66675">
                    <a:lnR w="9525">
                      <a:solidFill>
                        <a:srgbClr val="DCE4F0"/>
                      </a:solidFill>
                      <a:prstDash val="solid"/>
                    </a:lnR>
                    <a:lnB w="9525">
                      <a:solidFill>
                        <a:srgbClr val="DCE4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D2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任务、薄弱点、周报和下周计划</a:t>
                      </a:r>
                    </a:p>
                  </a:txBody>
                  <a:tcPr marL="95250" marR="95250" marT="66675" marB="66675">
                    <a:lnR w="9525">
                      <a:solidFill>
                        <a:srgbClr val="DCE4F0"/>
                      </a:solidFill>
                      <a:prstDash val="solid"/>
                    </a:lnR>
                    <a:lnB w="9525">
                      <a:solidFill>
                        <a:srgbClr val="DCE4F0"/>
                      </a:solidFill>
                      <a:prstDash val="solid"/>
                    </a:lnB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D2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Khanmigo</a:t>
                      </a:r>
                    </a:p>
                  </a:txBody>
                  <a:tcPr marL="95250" marR="95250" marT="66675" marB="66675">
                    <a:lnL w="9525">
                      <a:solidFill>
                        <a:srgbClr val="DCE4F0"/>
                      </a:solidFill>
                      <a:prstDash val="solid"/>
                    </a:lnL>
                    <a:lnR w="9525">
                      <a:solidFill>
                        <a:srgbClr val="DCE4F0"/>
                      </a:solidFill>
                      <a:prstDash val="solid"/>
                    </a:lnR>
                    <a:lnB w="9525">
                      <a:solidFill>
                        <a:srgbClr val="DCE4F0"/>
                      </a:solidFill>
                      <a:prstDash val="soli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D2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苏格拉底式辅导</a:t>
                      </a:r>
                    </a:p>
                  </a:txBody>
                  <a:tcPr marL="95250" marR="95250" marT="66675" marB="66675">
                    <a:lnR w="9525">
                      <a:solidFill>
                        <a:srgbClr val="DCE4F0"/>
                      </a:solidFill>
                      <a:prstDash val="solid"/>
                    </a:lnR>
                    <a:lnB w="9525">
                      <a:solidFill>
                        <a:srgbClr val="DCE4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D2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Agent 先调用知识与分析 Tool，再组织回答</a:t>
                      </a:r>
                    </a:p>
                  </a:txBody>
                  <a:tcPr marL="95250" marR="95250" marT="66675" marB="66675">
                    <a:lnR w="9525">
                      <a:solidFill>
                        <a:srgbClr val="DCE4F0"/>
                      </a:solidFill>
                      <a:prstDash val="solid"/>
                    </a:lnR>
                    <a:lnB w="9525">
                      <a:solidFill>
                        <a:srgbClr val="DCE4F0"/>
                      </a:solidFill>
                      <a:prstDash val="solid"/>
                    </a:lnB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D2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Anki / FSRS</a:t>
                      </a:r>
                    </a:p>
                  </a:txBody>
                  <a:tcPr marL="95250" marR="95250" marT="66675" marB="66675">
                    <a:lnL w="9525">
                      <a:solidFill>
                        <a:srgbClr val="DCE4F0"/>
                      </a:solidFill>
                      <a:prstDash val="solid"/>
                    </a:lnL>
                    <a:lnR w="9525">
                      <a:solidFill>
                        <a:srgbClr val="DCE4F0"/>
                      </a:solidFill>
                      <a:prstDash val="solid"/>
                    </a:lnR>
                    <a:lnB w="9525">
                      <a:solidFill>
                        <a:srgbClr val="DCE4F0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D2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间隔重复与遗忘管理</a:t>
                      </a:r>
                    </a:p>
                  </a:txBody>
                  <a:tcPr marL="95250" marR="95250" marT="66675" marB="66675">
                    <a:lnR w="9525">
                      <a:solidFill>
                        <a:srgbClr val="DCE4F0"/>
                      </a:solidFill>
                      <a:prstDash val="solid"/>
                    </a:lnR>
                    <a:lnB w="9525">
                      <a:solidFill>
                        <a:srgbClr val="DCE4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D2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Java-FSRS、候选卡审核、知识图谱</a:t>
                      </a:r>
                    </a:p>
                  </a:txBody>
                  <a:tcPr marL="95250" marR="95250" marT="66675" marB="66675">
                    <a:lnR w="9525">
                      <a:solidFill>
                        <a:srgbClr val="DCE4F0"/>
                      </a:solidFill>
                      <a:prstDash val="solid"/>
                    </a:lnR>
                    <a:lnB w="9525">
                      <a:solidFill>
                        <a:srgbClr val="DCE4F0"/>
                      </a:solidFill>
                      <a:prstDash val="solid"/>
                    </a:lnB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D2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LangChain / LlamaIndex</a:t>
                      </a:r>
                    </a:p>
                  </a:txBody>
                  <a:tcPr marL="95250" marR="95250" marT="66675" marB="66675">
                    <a:lnL w="9525">
                      <a:solidFill>
                        <a:srgbClr val="DCE4F0"/>
                      </a:solidFill>
                      <a:prstDash val="solid"/>
                    </a:lnL>
                    <a:lnR w="9525">
                      <a:solidFill>
                        <a:srgbClr val="DCE4F0"/>
                      </a:solidFill>
                      <a:prstDash val="solid"/>
                    </a:lnR>
                    <a:lnB w="9525">
                      <a:solidFill>
                        <a:srgbClr val="DCE4F0"/>
                      </a:solidFill>
                      <a:prstDash val="soli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D2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RAG 与 Tool Calling</a:t>
                      </a:r>
                    </a:p>
                  </a:txBody>
                  <a:tcPr marL="95250" marR="95250" marT="66675" marB="66675">
                    <a:lnR w="9525">
                      <a:solidFill>
                        <a:srgbClr val="DCE4F0"/>
                      </a:solidFill>
                      <a:prstDash val="solid"/>
                    </a:lnR>
                    <a:lnB w="9525">
                      <a:solidFill>
                        <a:srgbClr val="DCE4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D2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Spring AI + Java Service + PGVector</a:t>
                      </a:r>
                    </a:p>
                  </a:txBody>
                  <a:tcPr marL="95250" marR="95250" marT="66675" marB="66675">
                    <a:lnR w="9525">
                      <a:solidFill>
                        <a:srgbClr val="DCE4F0"/>
                      </a:solidFill>
                      <a:prstDash val="solid"/>
                    </a:lnR>
                    <a:lnB w="9525">
                      <a:solidFill>
                        <a:srgbClr val="DCE4F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651DCE-227D-45CD-973B-4ECB06361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4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4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4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4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4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4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4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4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4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rPr>
              <a:t>关键区别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2231D0-5B57-4267-A7E9-E43C6B3A3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67690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161"/>
          </a:bodyPr>
          <a:lstStyle xmlns:a="http://schemas.openxmlformats.org/drawingml/2006/main">
            <a:defPPr algn="l">
              <a:defRPr sz="14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4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4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4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4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4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4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4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4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4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生成内容可以替换，学习状态不能编造。模型能力通过 Java 接口接入，系统仍能在模型离线时完成复习、统计和文件管理。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1C30A1-62ED-4B78-9AB3-83B2C9F1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rPr>
              <a:t>LearnAgent · Java 课程项目答辩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D16FE2-F323-4DEA-B26F-209A6A974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rPr>
              <a:t>10 / 11</a:t>
            </a:r>
          </a:p>
        </p:txBody>
      </p:sp>
    </p:spTree>
    <p:extLst>
      <p:ext uri="{BB962C8B-B14F-4D97-AF65-F5344CB8AC3E}">
        <p14:creationId xmlns:p14="http://schemas.microsoft.com/office/powerpoint/2010/main" val="44126727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11A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1F1864-527C-4BCB-8716-6D4863CD9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71"/>
          </a:bodyPr>
          <a:lstStyle xmlns:a="http://schemas.openxmlformats.org/drawingml/2006/main">
            <a:defPPr algn="l"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Java 将课程资料、测验、记忆与复盘连接为一个系统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1AA4F5-0CFF-45C9-81C0-5196E0FA9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35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35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35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35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35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35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35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35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35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rPr>
              <a:t>当前版本已经具备现场演示与继续扩展的工程基础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D8D6FD-F61D-4440-B24C-F8AC1551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239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C7D4"/>
          </a:solidFill>
          <a:ln xmlns:a="http://schemas.openxmlformats.org/drawingml/2006/main" w="0">
            <a:solidFill>
              <a:srgbClr val="3978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92751C-4E71-495B-8845-5F58455AC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125" b="1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125" b="1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125" b="1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125" b="1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125" b="1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125" b="1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125" b="1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125" b="1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125" b="1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125" b="1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5431F8-BA47-42A8-9E77-7B67F7BF0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190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F99E1D-4055-4F5B-BA1B-CF53478E6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718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rPr>
              <a:t>Java 版本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A8715B-2166-44CA-A08C-E7A06328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47875"/>
            <a:ext cx="190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4350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4350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4350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4350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4350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4350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4350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4350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4350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4350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4350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rPr>
              <a:t>37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FE3073-DA29-4216-A758-D29DFD59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718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rPr>
              <a:t>后端测试通过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DF399D-F758-46A5-AEF6-444E938CD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47875"/>
            <a:ext cx="190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F91B94-D48F-4D78-A262-4139341F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718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rPr>
              <a:t>Flyway 迁移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2EB7C0-26B6-45D0-8CF0-5FE24EAA0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047875"/>
            <a:ext cx="190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496139-853D-4AAD-9D0B-64D3576FA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718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rPr>
              <a:t>无 Key 仍可复习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69255E-D03F-4D5A-AFD2-2CEAE685D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4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4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4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4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4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4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4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4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4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rPr>
              <a:t>已验证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EB2427-3B52-496C-8EFC-B708C3170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943350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Backend tests · Frontend build · PostgreSQL + PGVector · 重启持久化 · 无 Key 复习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C790EC-3B0B-4DE7-9268-AE9FFA793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4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4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4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4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4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4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4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4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4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rPr>
              <a:t>下一步补充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741BE7-2815-4A86-AAD9-D380FF033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791075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现场演示截图与讲解节奏 · 小组成员角色和任务比例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E1C3E5-8B5A-4DC5-A05C-5510E228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DDE6F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00" b="1">
                <a:solidFill>
                  <a:srgbClr val="DDE6F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00" b="1">
                <a:solidFill>
                  <a:srgbClr val="DDE6F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00" b="1">
                <a:solidFill>
                  <a:srgbClr val="DDE6F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00" b="1">
                <a:solidFill>
                  <a:srgbClr val="DDE6F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00" b="1">
                <a:solidFill>
                  <a:srgbClr val="DDE6F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00" b="1">
                <a:solidFill>
                  <a:srgbClr val="DDE6F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00" b="1">
                <a:solidFill>
                  <a:srgbClr val="DDE6F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00" b="1">
                <a:solidFill>
                  <a:srgbClr val="DDE6F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00" b="1">
                <a:solidFill>
                  <a:srgbClr val="DDE6F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DDE6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DDE6F8"/>
                </a:solidFill>
                <a:latin typeface="Microsoft YaHei"/>
                <a:ea typeface="Microsoft YaHei"/>
                <a:cs typeface="Microsoft YaHei"/>
              </a:rPr>
              <a:t>谢谢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5F48FC-FB0E-47E5-A967-2665D2E7E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rPr>
              <a:t>LearnAgent · Java 课程项目答辩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8E6A1B-BD39-45B3-B79B-20F18569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rPr>
              <a:t>11 / 11</a:t>
            </a:r>
          </a:p>
        </p:txBody>
      </p:sp>
    </p:spTree>
    <p:extLst>
      <p:ext uri="{BB962C8B-B14F-4D97-AF65-F5344CB8AC3E}">
        <p14:creationId xmlns:p14="http://schemas.microsoft.com/office/powerpoint/2010/main" val="929371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2026-10-18T13:20:50.3320000Z</dcterms:created>
  <dcterms:modified xsi:type="dcterms:W3CDTF">2026-10-18T13:20:50.3330000Z</dcterms:modified>
</coreProperties>
</file>