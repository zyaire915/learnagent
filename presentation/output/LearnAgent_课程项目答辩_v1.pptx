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0e1daf57ff46ef" /><Relationship Type="http://schemas.openxmlformats.org/officeDocument/2006/relationships/extended-properties" Target="/docProps/app.xml" Id="R2eb6311e84704262" /><Relationship Type="http://schemas.openxmlformats.org/officeDocument/2006/relationships/officeDocument" Target="/ppt/presentation.xml" Id="R97ba47e9481744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441cf595ff46b0"/>
  </p:sldMasterIdLst>
  <p:notesMasterIdLst>
    <p:notesMasterId xmlns:r="http://schemas.openxmlformats.org/officeDocument/2006/relationships" r:id="R0e275cffe185468e"/>
  </p:notesMasterIdLst>
  <p:sldIdLst>
    <p:sldId xmlns:r="http://schemas.openxmlformats.org/officeDocument/2006/relationships" id="256" r:id="R54aff664436d467d"/>
    <p:sldId xmlns:r="http://schemas.openxmlformats.org/officeDocument/2006/relationships" id="257" r:id="R00b9e910e2734811"/>
    <p:sldId xmlns:r="http://schemas.openxmlformats.org/officeDocument/2006/relationships" id="258" r:id="R0b6807c957724be0"/>
    <p:sldId xmlns:r="http://schemas.openxmlformats.org/officeDocument/2006/relationships" id="259" r:id="R4034104dcee34fa7"/>
    <p:sldId xmlns:r="http://schemas.openxmlformats.org/officeDocument/2006/relationships" id="260" r:id="R6791ea09554d4852"/>
    <p:sldId xmlns:r="http://schemas.openxmlformats.org/officeDocument/2006/relationships" id="261" r:id="R962670587f014a75"/>
    <p:sldId xmlns:r="http://schemas.openxmlformats.org/officeDocument/2006/relationships" id="262" r:id="Rfb0150d72fa04dfd"/>
    <p:sldId xmlns:r="http://schemas.openxmlformats.org/officeDocument/2006/relationships" id="263" r:id="R0dc771b9d1ce4478"/>
    <p:sldId xmlns:r="http://schemas.openxmlformats.org/officeDocument/2006/relationships" id="264" r:id="Rb928b3cb0a6640df"/>
    <p:sldId xmlns:r="http://schemas.openxmlformats.org/officeDocument/2006/relationships" id="265" r:id="Rb8e98ecc2544433c"/>
    <p:sldId xmlns:r="http://schemas.openxmlformats.org/officeDocument/2006/relationships" id="266" r:id="R7a2a87beb8274a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817007b5a1497a" /><Relationship Type="http://schemas.openxmlformats.org/officeDocument/2006/relationships/slideMaster" Target="/ppt/slideMasters/slideMaster1.xml" Id="Rf4441cf595ff46b0" /><Relationship Type="http://schemas.openxmlformats.org/officeDocument/2006/relationships/notesMaster" Target="/ppt/notesMasters/notesMaster1.xml" Id="R0e275cffe185468e" /><Relationship Type="http://schemas.openxmlformats.org/officeDocument/2006/relationships/presProps" Target="/ppt/presProps.xml" Id="R915b235726564d29" /><Relationship Type="http://schemas.openxmlformats.org/officeDocument/2006/relationships/tableStyles" Target="/ppt/tableStyles.xml" Id="Rf1c8f753e0804ce1" /><Relationship Type="http://schemas.openxmlformats.org/officeDocument/2006/relationships/slide" Target="/ppt/slides/slide1.xml" Id="R54aff664436d467d" /><Relationship Type="http://schemas.openxmlformats.org/officeDocument/2006/relationships/slide" Target="/ppt/slides/slide2.xml" Id="R00b9e910e2734811" /><Relationship Type="http://schemas.openxmlformats.org/officeDocument/2006/relationships/slide" Target="/ppt/slides/slide3.xml" Id="R0b6807c957724be0" /><Relationship Type="http://schemas.openxmlformats.org/officeDocument/2006/relationships/slide" Target="/ppt/slides/slide4.xml" Id="R4034104dcee34fa7" /><Relationship Type="http://schemas.openxmlformats.org/officeDocument/2006/relationships/slide" Target="/ppt/slides/slide5.xml" Id="R6791ea09554d4852" /><Relationship Type="http://schemas.openxmlformats.org/officeDocument/2006/relationships/slide" Target="/ppt/slides/slide6.xml" Id="R962670587f014a75" /><Relationship Type="http://schemas.openxmlformats.org/officeDocument/2006/relationships/slide" Target="/ppt/slides/slide7.xml" Id="Rfb0150d72fa04dfd" /><Relationship Type="http://schemas.openxmlformats.org/officeDocument/2006/relationships/slide" Target="/ppt/slides/slide8.xml" Id="R0dc771b9d1ce4478" /><Relationship Type="http://schemas.openxmlformats.org/officeDocument/2006/relationships/slide" Target="/ppt/slides/slide9.xml" Id="Rb928b3cb0a6640df" /><Relationship Type="http://schemas.openxmlformats.org/officeDocument/2006/relationships/slide" Target="/ppt/slides/slide10.xml" Id="Rb8e98ecc2544433c" /><Relationship Type="http://schemas.openxmlformats.org/officeDocument/2006/relationships/slide" Target="/ppt/slides/slide11.xml" Id="R7a2a87beb8274a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b38959c970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4b823706c64f2e" /><Relationship Type="http://schemas.openxmlformats.org/officeDocument/2006/relationships/notesMaster" Target="/ppt/notesMasters/notesMaster1.xml" Id="R61c05fd614de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d1177f671f4e45" /><Relationship Type="http://schemas.openxmlformats.org/officeDocument/2006/relationships/notesMaster" Target="/ppt/notesMasters/notesMaster1.xml" Id="R72a629563e7345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e731fd28640b4" /><Relationship Type="http://schemas.openxmlformats.org/officeDocument/2006/relationships/notesMaster" Target="/ppt/notesMasters/notesMaster1.xml" Id="Rb1f707987e6d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3967e6d6a64799" /><Relationship Type="http://schemas.openxmlformats.org/officeDocument/2006/relationships/notesMaster" Target="/ppt/notesMasters/notesMaster1.xml" Id="Ra56a4e3799b34f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c238da0a14f2a" /><Relationship Type="http://schemas.openxmlformats.org/officeDocument/2006/relationships/notesMaster" Target="/ppt/notesMasters/notesMaster1.xml" Id="R2a028b446aec44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aa0e529b54c14" /><Relationship Type="http://schemas.openxmlformats.org/officeDocument/2006/relationships/notesMaster" Target="/ppt/notesMasters/notesMaster1.xml" Id="R5b8a92bc6abf4d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c35611a41f4433" /><Relationship Type="http://schemas.openxmlformats.org/officeDocument/2006/relationships/notesMaster" Target="/ppt/notesMasters/notesMaster1.xml" Id="R023428d472c347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b66565b2c44670" /><Relationship Type="http://schemas.openxmlformats.org/officeDocument/2006/relationships/notesMaster" Target="/ppt/notesMasters/notesMaster1.xml" Id="Rad5964cc3bd84e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a9bc2371854d28" /><Relationship Type="http://schemas.openxmlformats.org/officeDocument/2006/relationships/notesMaster" Target="/ppt/notesMasters/notesMaster1.xml" Id="Rffc82dbbfe5140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9b1b7b4aff42b7" /><Relationship Type="http://schemas.openxmlformats.org/officeDocument/2006/relationships/notesMaster" Target="/ppt/notesMasters/notesMaster1.xml" Id="R258ed53c609847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e0c9db5b804188" /><Relationship Type="http://schemas.openxmlformats.org/officeDocument/2006/relationships/notesMaster" Target="/ppt/notesMasters/notesMaster1.xml" Id="R0747441b386349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开场：我们开发的是 LearnAgent，一个以 Java 为业务核心的本地智能学习系统。</a:t>
            </a:r>
          </a:p>
          <a:p xmlns:a="http://schemas.openxmlformats.org/drawingml/2006/main">
            <a:r>
              <a:t>模板参考：Presenton General，Apache 2.0。https://github.com/presenton/presenton</a:t>
            </a:r>
          </a:p>
          <a:p xmlns:a="http://schemas.openxmlformats.org/drawingml/2006/main">
            <a:r>
              <a:t>当前系统依据：D:/LearnAgent/README.md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强调项目背景，不先罗列功能。学习状态断裂是 LearnAgent 要解决的核心问题。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这一页说明项目意义：把一次问答扩展为持续学习闭环。</a:t>
            </a:r>
          </a:p>
          <a:p xmlns:a="http://schemas.openxmlformats.org/drawingml/2006/main">
            <a:r>
              <a:t>Google LearnLM learning principles: https://blog.google/products-and-platforms/products/education/google-learnlm-gemini-generative-ai/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技术部分按实现责任分配，Java 相关内容约占 60%。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结合代码说明 Java 不只是接口层，它承担规则、状态和安全边界。</a:t>
            </a:r>
          </a:p>
          <a:p xmlns:a="http://schemas.openxmlformats.org/drawingml/2006/main">
            <a:r>
              <a:t>Project source: D:/LearnAgent/backend/src/main/java/com/learnagent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AI official reference: https://docs.spring.io/spring-ai/reference/index.html</a:t>
            </a:r>
          </a:p>
          <a:p xmlns:a="http://schemas.openxmlformats.org/drawingml/2006/main">
            <a:r>
              <a:t>pgvector official repository: https://github.com/pgvector/pgvector</a:t>
            </a:r>
          </a:p>
          <a:p xmlns:a="http://schemas.openxmlformats.org/drawingml/2006/main">
            <a:r>
              <a:t>Local project source: D:/LearnAgent/backend/src/main/java/com/learnagent/rag/LocalKnowledgeService.java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ChatGPT Study Mode uses guiding questions and understanding checks: https://help.openai.com/en/articles/11780217-using-study-mode-in-chatgpt</a:t>
            </a:r>
          </a:p>
          <a:p xmlns:a="http://schemas.openxmlformats.org/drawingml/2006/main">
            <a:r>
              <a:t>Google LearnLM emphasizes active learning and adaptation: https://blog.google/products-and-platforms/products/education/google-learnlm-gemini-generative-ai/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Java-FSRS official repository: https://github.com/open-spaced-repetition/java-fsrs</a:t>
            </a:r>
          </a:p>
          <a:p xmlns:a="http://schemas.openxmlformats.org/drawingml/2006/main">
            <a:r>
              <a:t>Project uses Java-FSRS 0.5.1 with desired retention 0.90.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D:/LearnAgent/backend/src/main/java/com/learnagent/weekly</a:t>
            </a:r>
          </a:p>
          <a:p xmlns:a="http://schemas.openxmlformats.org/drawingml/2006/main">
            <a:r>
              <a:t>Project source: D:/LearnAgent/backend/src/main/java/com/learnagent/workspace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Study Mode: https://help.openai.com/en/articles/11780217-using-study-mode-in-chatgpt</a:t>
            </a:r>
          </a:p>
          <a:p xmlns:a="http://schemas.openxmlformats.org/drawingml/2006/main">
            <a:r>
              <a:t>Google LearnLM: https://blog.google/products-and-platforms/products/education/google-learnlm-gemini-generative-ai/</a:t>
            </a:r>
          </a:p>
          <a:p xmlns:a="http://schemas.openxmlformats.org/drawingml/2006/main">
            <a:r>
              <a:t>Spring AI reference: https://docs.spring.io/spring-ai/reference/index.html</a:t>
            </a:r>
          </a:p>
          <a:p xmlns:a="http://schemas.openxmlformats.org/drawingml/2006/main">
            <a:r>
              <a:t>Java-FSRS: https://github.com/open-spaced-repetition/java-fsrs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本页用于第一版收束。现场演示和成员分工将在下一轮补齐。</a:t>
            </a:r>
          </a:p>
          <a:p xmlns:a="http://schemas.openxmlformats.org/drawingml/2006/main">
            <a:r>
              <a:t>Validation baseline: 37 backend tests passed; frontend production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b49391df041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2f480601b4d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6ae321a02e42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d25c8ac7d4f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1bedbb0e343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0492ea561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CD8EC4-D688-4139-83E9-D0DB3BEC19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335C1C-F318-4EDB-BE9A-D17A80D3CA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91F8A93-CCDF-46D4-906F-E6B7BF351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DE8B8E-751D-4429-AA12-425C0A35E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46E7B5-16D1-4DAA-90B7-FFDF50AA6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57DC8F-57B5-4B04-B30E-1DFD9584C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9DE096-62D8-445B-B340-91391FA578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04C9BB-003B-4B86-9306-CAD467F4D7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6980B4-9A37-4560-9916-5471AD2DB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94D989-1505-4CC3-A1AF-E477DF079B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5b1d3d80d4c59" /><Relationship Type="http://schemas.openxmlformats.org/officeDocument/2006/relationships/slideLayout" Target="/ppt/slideLayouts/slideLayout1.xml" Id="R02035a4f754a4fcf" /><Relationship Type="http://schemas.openxmlformats.org/officeDocument/2006/relationships/slideLayout" Target="/ppt/slideLayouts/slideLayout2.xml" Id="Ra5805e47d41b4cdc" /><Relationship Type="http://schemas.openxmlformats.org/officeDocument/2006/relationships/slideLayout" Target="/ppt/slideLayouts/slideLayout3.xml" Id="R9f34a912feec4775" /><Relationship Type="http://schemas.openxmlformats.org/officeDocument/2006/relationships/slideLayout" Target="/ppt/slideLayouts/slideLayout4.xml" Id="Refb837da2c094bba" /><Relationship Type="http://schemas.openxmlformats.org/officeDocument/2006/relationships/slideLayout" Target="/ppt/slideLayouts/slideLayout5.xml" Id="Re555604400054d66" /><Relationship Type="http://schemas.openxmlformats.org/officeDocument/2006/relationships/slideLayout" Target="/ppt/slideLayouts/slideLayout6.xml" Id="Re8fff0ad00db4c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35a4f754a4fcf"/>
    <p:sldLayoutId xmlns:r="http://schemas.openxmlformats.org/officeDocument/2006/relationships" id="2147483650" r:id="Ra5805e47d41b4cdc"/>
    <p:sldLayoutId xmlns:r="http://schemas.openxmlformats.org/officeDocument/2006/relationships" id="2147483651" r:id="R9f34a912feec4775"/>
    <p:sldLayoutId xmlns:r="http://schemas.openxmlformats.org/officeDocument/2006/relationships" id="2147483652" r:id="Refb837da2c094bba"/>
    <p:sldLayoutId xmlns:r="http://schemas.openxmlformats.org/officeDocument/2006/relationships" id="2147483653" r:id="Re555604400054d66"/>
    <p:sldLayoutId xmlns:r="http://schemas.openxmlformats.org/officeDocument/2006/relationships" id="2147483654" r:id="Re8fff0ad00db4c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9f5c47a674fad" /><Relationship Type="http://schemas.openxmlformats.org/officeDocument/2006/relationships/image" Target="/ppt/media/image.png" Id="R9f839e158bff47ca" /><Relationship Type="http://schemas.openxmlformats.org/officeDocument/2006/relationships/notesSlide" Target="/ppt/notesSlides/notesSlide1.xml" Id="Rf77d3cb1fb66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2ed0f477e47f8" /><Relationship Type="http://schemas.openxmlformats.org/officeDocument/2006/relationships/notesSlide" Target="/ppt/notesSlides/notesSlide2.xml" Id="R4c4135a5a21e41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a0f5519bf42bc" /><Relationship Type="http://schemas.openxmlformats.org/officeDocument/2006/relationships/notesSlide" Target="/ppt/notesSlides/notesSlide3.xml" Id="Rd35cdb8d9f894b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859b2d3a24f72" /><Relationship Type="http://schemas.openxmlformats.org/officeDocument/2006/relationships/notesSlide" Target="/ppt/notesSlides/notesSlide4.xml" Id="Re99fa46ddbe547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68addc9beb46e0" /><Relationship Type="http://schemas.openxmlformats.org/officeDocument/2006/relationships/notesSlide" Target="/ppt/notesSlides/notesSlide5.xml" Id="Raf74f99498c241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4a5cbbb0c46f7" /><Relationship Type="http://schemas.openxmlformats.org/officeDocument/2006/relationships/notesSlide" Target="/ppt/notesSlides/notesSlide6.xml" Id="R4fb61987995f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ef4a3f1ff4ed1" /><Relationship Type="http://schemas.openxmlformats.org/officeDocument/2006/relationships/image" Target="/ppt/media/image2.png" Id="R358825af2ab94e7e" /><Relationship Type="http://schemas.openxmlformats.org/officeDocument/2006/relationships/notesSlide" Target="/ppt/notesSlides/notesSlide7.xml" Id="R80a735f2d2a542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5c112db074f0b" /><Relationship Type="http://schemas.openxmlformats.org/officeDocument/2006/relationships/notesSlide" Target="/ppt/notesSlides/notesSlide8.xml" Id="R99be696d6d1046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747dd82a14de1" /><Relationship Type="http://schemas.openxmlformats.org/officeDocument/2006/relationships/image" Target="/ppt/media/image3.png" Id="R4890a67b8812464d" /><Relationship Type="http://schemas.openxmlformats.org/officeDocument/2006/relationships/image" Target="/ppt/media/image4.png" Id="R76c653f5840248db" /><Relationship Type="http://schemas.openxmlformats.org/officeDocument/2006/relationships/notesSlide" Target="/ppt/notesSlides/notesSlide9.xml" Id="Re78f95d8ffae4c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916f702964d83" /><Relationship Type="http://schemas.openxmlformats.org/officeDocument/2006/relationships/notesSlide" Target="/ppt/notesSlides/notesSlide10.xml" Id="Re417e1927b5943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431d05d004856" /><Relationship Type="http://schemas.openxmlformats.org/officeDocument/2006/relationships/notesSlide" Target="/ppt/notesSlides/notesSlide11.xml" Id="Rf6eb6a8b6637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7C2B8-7D54-4159-A1EE-7201C40B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978E8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课程项目答辩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A97D1-A067-4679-BDE7-F33C3809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LearnAgent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D139C-2BB9-4896-B2A4-2CA3B58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810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面向课程学习闭环的智能学习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719D0-99B5-4B14-AB5B-D27848C3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FC0E0"/>
                </a:solidFill>
                <a:latin typeface="Microsoft YaHei"/>
                <a:ea typeface="Microsoft YaHei"/>
                <a:cs typeface="Microsoft YaHei"/>
              </a:rPr>
              <a:t>课程资料、主动测评、长期记忆与项目实践统一在一个本地系统中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AA220-EDBA-4BC2-B03B-3FC2B17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04850"/>
            <a:ext cx="55245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D2949"/>
          </a:solidFill>
          <a:ln xmlns:a="http://schemas.openxmlformats.org/drawingml/2006/main" w="9525">
            <a:solidFill>
              <a:srgbClr val="3445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EBEB5-B02E-4744-8B7C-FC40641A3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39e158bff47ca"/>
          <a:stretch xmlns:a="http://schemas.openxmlformats.org/drawingml/2006/main"/>
        </p:blipFill>
        <p:spPr>
          <a:xfrm xmlns:a="http://schemas.openxmlformats.org/drawingml/2006/main">
            <a:off x="6105525" y="1665684"/>
            <a:ext cx="5219700" cy="2936081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3F6CA-2673-4BA4-ADC0-550D04A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项目背景与关键技术 · 第一版</a:t>
            </a:r>
          </a:p>
        </p:txBody>
      </p:sp>
    </p:spTree>
    <p:extLst>
      <p:ext uri="{BB962C8B-B14F-4D97-AF65-F5344CB8AC3E}">
        <p14:creationId xmlns:p14="http://schemas.microsoft.com/office/powerpoint/2010/main" val="235244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D3D9A-8D5C-4973-944C-2987B6D6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学习过程被多个工具切断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F3B79-E822-47E7-AB81-49D97105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资料、问答、测验和复习分别存在，学习状态难以连续积累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D3596-326B-45F9-AAAE-D0746A92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6FEF9-E720-4649-AE6A-6BDAFB6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FBAD5-7685-4740-BADB-2F13048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06D50-65EE-48E0-9E55-7B4C949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51905-A912-4FF5-97D6-3615A49E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BBDE5-1631-441A-900C-958BC43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86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PDF 与课堂笔记分散，检索成本高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0D694-AB53-4CCB-8592-18AE4887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2B3A7-9238-4850-BE3B-F7358BB2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92FA2-93A0-42B0-A170-777E182D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D2AFC-334C-4329-8B7B-54111DEE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87B91E-F560-4102-A0C6-89178111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通常只解决当下问题，缺少课程上下文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BFBCF-81CD-46E0-8B06-6E82984D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5A78B-1B07-4E81-BC6E-8D5BE27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BAE09-7817-4800-8261-32C38E7A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77B83-0AD5-4445-A31A-566E3F0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练习测验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ED406-D61B-4072-B39A-F971E5E6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错题留在一次结果中，难以持续训练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D9777-012E-47CB-9B35-12FA8F91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60"/>
          </a:bodyPr>
          <a:lstStyle xmlns:a="http://schemas.openxmlformats.org/drawingml/2006/main">
            <a:def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8A18C2-55C8-427A-8E9B-E1A58DA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952625"/>
            <a:ext cx="233362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8B59A-04DA-4FAE-8342-29FBAE7A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336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48C8A-8DD6-44E7-909C-80A24BD8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28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复习计划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26E87-E617-4C55-9DA4-BCB64D97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099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依靠人工安排，容易忽略遗忘规律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8F866-C106-4424-B721-ECB2A7CD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5B6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0489D-2783-4988-99E5-3C3E561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14850"/>
            <a:ext cx="938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信息存在，但掌握度、薄弱点和遗忘风险没有形成可持续的学习记录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3CB3F-C1D6-4DE8-BDB6-97A3B5C0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项目目标：让系统持续记录学习行为，让模型负责生成内容，让 Java 负责判定状态与执行操作。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C8EC6-42CF-4004-A5C5-096F17E7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EA6583-07B8-4432-AF9E-79DBB852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741071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C374E-5DB5-408D-8EDA-2954F6EE632F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1190625" y="2924175"/>
            <a:ext cx="9772650" cy="228600"/>
          </a:xfrm>
          <a:prstGeom xmlns:a="http://schemas.openxmlformats.org/drawingml/2006/main" prst="bentConnector3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headEnd type="arrow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96BB7-5C13-42EA-826C-378752DDB2B4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9917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22ABD-624F-4AA3-B045-79D5FE1F436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629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182FB-C4F2-4553-BC1E-55E6B991687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3417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head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BFA44-63FB-4610-961B-AD4F0D571D0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0540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B4CB7-3162-4BCA-9FC8-F79864B1CC7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C3063-853D-48A2-9FEA-2DBB07A39F2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47850" y="25336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9FBA3-CB69-46A9-84D1-F14DB334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LearnAgent 将学习行为闭合为持续循环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7A548-E70A-46D7-A376-A986663B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每一步都会产生下一步可利用的数据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E7AC5-AADA-4A1F-A7A3-132443F0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87851-382C-46D5-AD64-D1D7706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F4C1D-1564-4CF6-8B7B-67AC7113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5528E-42F6-4C74-B4C2-BBD4DA7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辅导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8AEAA-3A98-4C94-B569-0176AF2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自适应测验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2B203-5188-44F2-865B-F71A40A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薄弱点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163CC-31FF-4AF3-BCA3-4323EDD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复习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50769-4727-4B88-B3F2-305FCE0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周报复盘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1F510-0688-48A5-A87C-6F81B22F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43125"/>
            <a:ext cx="1314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项目实践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A8060-708B-4E6E-8337-01EB1DD4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学习结果回流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68D97-06C8-4212-B3AE-8D0B8D1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有依据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A9348-FFE9-4FB3-868F-2F11DF9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答案、题目和记忆卡关联 PDF 页码或网页来源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8E601-11AD-4F96-92E8-80ADCBC5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C8437-508F-4C94-BE2F-D67F5BC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正确率、掌握度和遗忘风险由 Java 确定性计算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A61223-716F-4FEA-B609-66155F50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可持续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70152-FF36-46A5-9E61-B8C9131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10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任务、复习队列与周报在重启后仍能继续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05618-B770-4DC3-BB0E-5250630B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9F9C5-C7F8-4E85-A897-77FB89A7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64893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E9083-3DEC-44F7-A822-2722D3E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4A387-5C34-4EAC-B1D2-06C5D2E6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功能场景、Java 机制、AI 数据技术和主流产品关联在同一条链路中说明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20338-BFDD-45A3-8E7A-7EFD1B1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111BE-252B-472C-9B01-0927024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7B211-DB0A-4C8C-8917-012B9F10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F66F-642F-494C-9769-8ADC38FC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与 Spring 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2150B-91C5-4C31-8258-57214FB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业务状态、数据一致性、工具执行和安全边界都落在 Java 服务层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A6A2A-CDAD-414E-9A8B-20BEF640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Java 业务核心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A9C0B-E65E-4659-87E1-DB342CE1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71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Boot · JPA · Scheduler · NIO · JUnit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0EF60-E010-406C-B0F1-163C8DF4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与数据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8E33F-CA7A-43F7-8C67-1C98E6B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Spring AI · 本地 Embedding · PGVector · Tavily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71B63-7E39-4B64-B22F-19C13CE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38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06B5E-5596-4003-B2B2-898BCFDF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6C5E2"/>
                </a:solidFill>
                <a:latin typeface="Microsoft YaHei"/>
                <a:ea typeface="Microsoft YaHei"/>
                <a:cs typeface="Microsoft YaHei"/>
              </a:rPr>
              <a:t>Vue 3 · ECharts · Markdown · DOMPurify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51BE-9CE9-4DE5-86B2-97D273B1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17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E9418-947A-4390-88A6-88714527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617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60%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5110E-D555-4BCC-9436-A78B4C6C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29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6C7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61CAF-47E0-48D6-BDE7-62618497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/ Data 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3A27E-0564-428D-830C-46C2527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29250"/>
            <a:ext cx="1543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CF2"/>
          </a:solidFill>
          <a:ln xmlns:a="http://schemas.openxmlformats.org/drawingml/2006/main" w="0">
            <a:solidFill>
              <a:srgbClr val="7C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556B3-B02A-4742-815F-41414AC6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05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Frontend 15%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1259E-6207-45CC-97C3-BA8BE14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4BF43-BA25-467C-B800-ED98F801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100626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30694-F5B1-4AEE-8F35-73289C3CCF8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857500" y="43053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head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22A16-D67B-4411-8376-33E32506CC04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57500" y="33909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head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97FD9-C193-4E92-AAA8-CA3EE4D2F1E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24765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DA4CF"/>
            </a:solidFill>
            <a:prstDash val="solid"/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FDCD1-89BB-4C0D-8952-3A661024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服务层承载业务状态和所有副作用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E0A69-2FAD-4D83-BA17-CADCC92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分层架构让模型能力与真实数据操作保持清晰边界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BA379-890F-4DEA-B1FE-BAAE643A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E850E-ECB3-498F-B206-045B98BC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4A028-163F-45BE-A372-3005F36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59D59-12AD-4279-8FED-54A25A3A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CDFD2-4824-4FE6-8ED8-762FC56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716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REST API · 参数校验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AE642-B1B2-42C2-979F-AC536F3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A8C0B-2651-48C9-8B18-300F0609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9B45A-961F-4014-B464-04E965C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860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学习规则 · 事务 · Tool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3B595-9E81-4CB1-8B4E-913FE63D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B23E3-83EA-433F-BCED-13BA810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81048-0D64-4D8B-92BD-A4AB0FF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004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Data JPA · 查询抽象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8E7EAA-9B4C-42BF-9E7C-DAAA1435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3F8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AE049-4926-44F0-9CF6-C4F46460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D5D4D-3BAC-4663-B0F2-09D26676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1487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课程 · 测验 · 任务 · 复习状态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961F7-8924-4CF0-86FC-0AF26AB8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A33"/>
          </a:solidFill>
          <a:ln xmlns:a="http://schemas.openxmlformats.org/drawingml/2006/main" w="9525">
            <a:solidFill>
              <a:srgbClr val="111A33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21 + SPRING BOOT 3.4.5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83205-6967-495D-8545-921FB492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知识如何进入系统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8F217-87E8-4EFD-BC96-5634752D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1935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面向对象与接口：Controller、Service、Repository 各自负责一种职责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record 与 enum：表达 DTO、会话状态、评分和学习策略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泛型、集合与 Stream：聚合答题记录、排序薄弱点、生成统计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异常处理与校验：阻止非法文件、重复提交和越界路径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800"/>
              </a:spcAft>
              <a:buNone/>
              <a:def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@Transactional 与 JPA：保证状态更新和日志写入保持一致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A7797-D65D-41A2-993C-2A3FD3DB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5721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D3F393-2D20-4C13-A81C-EF46482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1497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62"/>
          </a:bodyPr>
          <a:lstStyle xmlns:a="http://schemas.openxmlformats.org/drawingml/2006/main">
            <a:def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模型提出动作，Java 决定能否执行，并记录真实结果。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BFAB1B-476B-4CAD-95E9-C4AA4A5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F169C-A4F0-4366-8CD1-99BF5FA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2037126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3B51D-3368-4AB1-8B57-12234975DE0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107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65783-4E14-4F11-AA94-1825E68B5904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9620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head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0F1BD-3FA2-4E69-B2F8-C80C7CD1C5F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8167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56DA9-708A-477F-B738-2982C6106BA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67150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11DAF-762E-48BC-8754-DF9DC7FCEF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52625" y="260032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FDAFEB-7F4D-410D-83E3-ADA95DB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课程资料进入本地可检索知识库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F64F9-C68C-4CAD-A05B-9BBEABF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RAG 让回答和测验建立在课程证据上，而不是依赖模型记忆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3718-AE8C-4B20-844D-AE58DE25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CCB13-A2EC-4D17-AE49-D1D423D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CC8FB-D938-42B7-94E5-3C4CD33E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 上传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26037-956C-45BE-97C9-707D3A6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PDFBox 提取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6E6E4-6C2B-40C6-ADA5-18E80D84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文本切分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8E1F2-BF80-43EC-A522-E1194B7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 Embedding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1CF4F-A945-44CF-B2B0-1224921C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PGVector 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8235A-E705-44F3-8E2E-AEE5037F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8375"/>
            <a:ext cx="1428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Spring AI 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622F4-E85A-43BC-B1EA-4A3A04AA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在链路中的作用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0BCE4-60DD-4461-A4A1-94B5ACF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使用 UUID 元数据隔离不同课程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通过泛型与 Stream 处理分块和来源去重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用接口抽象 Embedding 与 VectorStore</a:t>
            </a:r>
          </a:p>
          <a:p xmlns:a="http://schemas.openxmlformats.org/drawingml/2006/main">
            <a:pPr marL="241300" indent="-114300">
              <a:lnSpc>
                <a:spcPct val="114000"/>
              </a:lnSpc>
              <a:spcAft>
                <a:spcPts val="700"/>
              </a:spcAft>
              <a:buNone/>
              <a:def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异常路径返回明确提示，系统仍可降级运行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AAEF8-4400-4D23-A668-C3388B99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与主流方案的关系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24181-19EF-4EEF-B6EB-A5EFEA83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46196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8000"/>
              </a:lnSpc>
              <a:buNone/>
              <a:def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Spring AI 提供模型、结构化输出、VectorStore 和 Tool Calling 抽象；PGVector 在 PostgreSQL 中保存向量并支持余弦距离检索。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03896-C2A1-457A-B827-966B62C8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24500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5AD7E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  <p:txBody>
          <a:bodyPr xmlns:a="http://schemas.openxmlformats.org/drawingml/2006/main" lIns="28575" tIns="28575" rIns="28575" bIns="28575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LOCAL-FIRST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60943-78E1-4019-8E41-78CFD168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03"/>
          </a:bodyPr>
          <a:lstStyle xmlns:a="http://schemas.openxmlformats.org/drawingml/2006/main">
            <a:def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Embedding 缓存在 D 盘，文档处理不消耗模型额度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DB41B-B041-4975-A4DA-27D186D8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3F5BE-A66A-420A-BC87-BC2A2085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42199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231F3-056D-4779-A726-F8BDE6E5AF16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714500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C7D4"/>
            </a:solidFill>
            <a:prstDash val="dash"/>
            <a:headEnd type="arrow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BAC68-EF1F-43F1-A3A4-9D022DD0ACB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667000" y="35052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20009-B6F4-42ED-92AB-31CD148D452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143375" y="2628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A4196-89C7-4A51-87F4-0E17E211054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314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2BA96-2DC9-430E-8ADD-5751593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模型负责生成，Java 负责判定与执行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BBF4A-3B34-48B2-AD20-7F0F51C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自适应测试将开放式模型能力放进可验证的学习会话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991EA-E99B-4070-B717-9885CBE6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3FC9E-5CD1-4A50-84AA-E534D95C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56F6-C1F2-4440-B3D6-59C5D027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509587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848D2-0E2B-4F92-B11D-CB5496BC7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825af2ab94e7e"/>
          <a:stretch xmlns:a="http://schemas.openxmlformats.org/drawingml/2006/main"/>
        </p:blipFill>
        <p:spPr>
          <a:xfrm xmlns:a="http://schemas.openxmlformats.org/drawingml/2006/main">
            <a:off x="6448425" y="2298204"/>
            <a:ext cx="4867275" cy="2737842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EB4B9-820C-4145-A985-6A30F1BF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课程资料与网络来源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3AD18-8BA1-4DF5-B321-EA19157D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AI 生成 5 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93839-45F5-4597-9354-DBA4F0DD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1619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978E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判题与聚合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EA304-A841-4DF5-B247-4508014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905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下一轮策略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4D2FB-1E4A-4CF9-9AEF-57B178D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总正确率 ≥ 80%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844D4-1011-4AA1-96E8-B01771C3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每个知识点 ≥ 60%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F34A3-6BB7-4F6A-9942-2C234779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00625"/>
            <a:ext cx="4524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Map 聚合知识点表现，enum 表达训练策略，状态机限制最多三轮。模型不计算成绩，也不能声称未执行的任务已经完成。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4EBB9-9E01-49EC-96FA-CC7BC216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636AD-F9AF-4DAD-9388-195F02F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5245175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13EC8C-C116-4E1F-99B0-2AB4D0CAEE24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1545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7FC7C-CC46-4EE1-8632-28035828D5E3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1992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AD7E"/>
            </a:solidFill>
            <a:prstDash val="solid"/>
            <a:headEnd type="arrow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779A2-1121-4B8F-8A9E-EE80DA394ED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24400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60646-D68D-4A12-9BE9-A046BF6A977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26193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8E8"/>
            </a:solidFill>
            <a:prstDash val="solid"/>
            <a:head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3701EC-97EE-45E6-B509-C4CCA8DF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FSRS 将一次错题转为长期复习计划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F2D9B-32A7-4001-ABF3-24C0A62C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AI 生成候选内容，复习时间和遗忘风险由 Java 本地计算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411BC-26AF-4097-BA0F-9C96211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57704-5361-440B-8B37-ED404169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52F2-76DE-4C0E-BED6-E39B9573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34A3C-17A1-494C-B809-ED595813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错题或课程资料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6E7D1-98BB-4F8D-A9C7-4BC090A2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F2142-6343-470E-BEE4-BEF05C50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22864-7ADE-4357-A930-4D5C8F97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候选卡确认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655FA-FBD1-4C64-A81D-CEA3162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用户先审核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24FFE-F282-4A29-819C-3E68A32D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A50B3-3CD7-4ED7-A278-4BAD9D77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四档评分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A1D58-8BC3-4E3A-A515-2384C712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79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Again / Hard / Good / Easy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3792B-61F3-4C18-900F-9643ED47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8F3"/>
          </a:solidFill>
          <a:ln xmlns:a="http://schemas.openxmlformats.org/drawingml/2006/main" w="9525">
            <a:solidFill>
              <a:srgbClr val="45AD7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30872-D085-4E4F-AD0C-8078170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Java-FSRS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15FAF9-BE51-4136-B0F2-2F2C66F4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计算稳定性与到期时间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5F0E4-E95E-489D-BF58-8F01B296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04787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60B11-BB77-4107-9674-9D98A48F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288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知识地图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A38DA-F076-4D59-B0E5-B52EB0D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860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汇总掌握度与遗忘风险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B5E334-09D3-4D10-8495-34ADA90D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45AD7E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C7817B-68B2-4618-9DCC-36A13276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目标留存率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F3971-D844-48EE-9C13-5E33AD78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20 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3D122-E9ED-4BD7-AB98-96ECD12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每日上限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05F2F-1F59-4B85-AE01-E7429D62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15 分钟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FCD7B7-9387-4DA2-A47B-F793107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时间上限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4FD009-FC21-4345-A803-566F8509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0957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0 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6B74A9-5013-4B37-90AC-10D0DF1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2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评分模型调用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D108F-9696-4247-A12A-3D896513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7"/>
          </a:bodyPr>
          <a:lstStyle xmlns:a="http://schemas.openxmlformats.org/drawingml/2006/main">
            <a:def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Java 知识点：第三方库封装、Instant 与 Duration、不可变 Review Log、JPA 实体关系、优先队列排序和定时任务。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1025D-B6D8-4CCC-AF19-4E8E7966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CFF2F-61E1-459F-BB36-B4FAE9C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333125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CBA8F-B77F-4054-BD1F-08E58BBF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后台调度与项目工作区都受 Java 规则约束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75FB-8392-4813-9EEE-FDB3863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主动推送、可追溯资料与本地文件操作共享同一套审计边界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97306-244C-48BE-A804-FD8E327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896F3-F186-452D-9B6F-4910F49F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09630-0C88-464B-8C45-32544753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F0D2-228A-400E-B2F2-6A4E760F6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0a67b8812464d"/>
          <a:stretch xmlns:a="http://schemas.openxmlformats.org/drawingml/2006/main"/>
        </p:blipFill>
        <p:spPr>
          <a:xfrm xmlns:a="http://schemas.openxmlformats.org/drawingml/2006/main">
            <a:off x="965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5112C-45BC-4EF3-BF06-AB599FC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3B531-B1D6-4663-A4DC-3252DD274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653f5840248db"/>
          <a:stretch xmlns:a="http://schemas.openxmlformats.org/drawingml/2006/main"/>
        </p:blipFill>
        <p:spPr>
          <a:xfrm xmlns:a="http://schemas.openxmlformats.org/drawingml/2006/main">
            <a:off x="7061200" y="1828800"/>
            <a:ext cx="4165600" cy="2343150"/>
          </a:xfrm>
          <a:prstGeom xmlns:a="http://schemas.openxmlformats.org/drawingml/2006/main" prst="roundRect">
            <a:avLst>
              <a:gd name="adj" fmla="val 325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C0B74-E915-47C9-A3CE-8DBE9249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主动学习调度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FFE5D-626C-46D9-9E4A-F73FDEDF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@Scheduled 按时生成资料与周报；唯一键与启动补偿避免重复。统计先由 Java 聚合，AI 只撰写总结。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F09D8-E0DF-4144-B31A-062EDBB3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148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本地项目安全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9F2AC-2329-4F21-A168-D90521D6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NIO Path 规范化、扩展名白名单、符号链接检查和 ProcessBuilder 限制文件系统副作用。普通项目不会误执行 Maven。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26C82-4B88-4F50-9D19-F6700975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40BC4C-4DCA-4AD8-A997-4EA1A97A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11437602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64448-47A0-4B71-AF04-E06CC2A4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主流产品思路被转化为可验证的本地实现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6F641-2FB1-4945-9702-6265891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借鉴交互与学习科学原则，业务数据和安全边界由 LearnAgent 自己控制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F906A-4E96-444C-A9DF-B54847AD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8E8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C0697-4C43-45ED-9BE5-4907F51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8759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354C7-651B-4197-BC37-FCEED01F7693}"/>
              </a:ext>
            </a:extLst>
          </p:cNvPr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7061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33625"/>
                <a:gridCol w="3333750"/>
                <a:gridCol w="5038725"/>
              </a:tblGrid>
              <a:tr h="6191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主流方案</a:t>
                      </a:r>
                    </a:p>
                  </a:txBody>
                  <a:tcPr marL="95250" marR="95250" marT="76200" marB="76200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借鉴的思路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LearnAgent 的本地实现</a:t>
                      </a:r>
                    </a:p>
                  </a:txBody>
                  <a:tcPr marL="95250" marR="95250" marT="76200" marB="76200">
                    <a:lnR w="9525">
                      <a:solidFill>
                        <a:srgbClr val="DCE4F0"/>
                      </a:solidFill>
                      <a:prstDash val="solid"/>
                    </a:lnR>
                    <a:lnT w="9525">
                      <a:solidFill>
                        <a:srgbClr val="DCE4F0"/>
                      </a:solidFill>
                      <a:prstDash val="solid"/>
                    </a:lnT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111A3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ChatGPT Study Mode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引导提问、分层解释、理解检查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自适应会话、错题解释、三轮策略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Google LearnLM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主动学习、适应目标、元认知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任务、薄弱点、周报和下周计划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Khanmigo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苏格拉底式辅导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先调用知识与分析 Tool，再组织回答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Anki / FSRS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间隔重复与遗忘管理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Java-FSRS、候选卡审核、知识图谱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LangChain / LlamaIndex</a:t>
                      </a:r>
                    </a:p>
                  </a:txBody>
                  <a:tcPr marL="95250" marR="95250" marT="66675" marB="66675">
                    <a:lnL w="9525">
                      <a:solidFill>
                        <a:srgbClr val="DCE4F0"/>
                      </a:solidFill>
                      <a:prstDash val="solid"/>
                    </a:lnL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与 Tool Calling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D2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Spring AI + Java Service + PGVector</a:t>
                      </a:r>
                    </a:p>
                  </a:txBody>
                  <a:tcPr marL="95250" marR="95250" marT="66675" marB="66675">
                    <a:lnR w="9525">
                      <a:solidFill>
                        <a:srgbClr val="DCE4F0"/>
                      </a:solidFill>
                      <a:prstDash val="solid"/>
                    </a:lnR>
                    <a:lnB w="9525">
                      <a:solidFill>
                        <a:srgbClr val="DCE4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B34F0-793A-4836-AFE0-A61A97E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8E8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016EF-A6F2-427A-A215-B15D308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6769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161"/>
          </a:bodyPr>
          <a:lstStyle xmlns:a="http://schemas.openxmlformats.org/drawingml/2006/main">
            <a:def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2A44"/>
                </a:solidFill>
                <a:latin typeface="Microsoft YaHei"/>
                <a:ea typeface="Microsoft YaHei"/>
                <a:cs typeface="Microsoft YaHei"/>
              </a:rPr>
              <a:t>生成内容可以替换，学习状态不能编造。模型能力通过 Java 接口接入，系统仍能在模型离线时完成复习、统计和文件管理。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FD2D6-7869-4CD3-9CF2-6F428134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DADF8-F145-4FE7-838B-2E230925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3A0B6"/>
                </a:solidFill>
                <a:latin typeface="Microsoft YaHei"/>
                <a:ea typeface="Microsoft YaHei"/>
                <a:cs typeface="Microsoft YaHei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7379014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05DEC-283A-4284-A5DE-799FA95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Java 将课程资料、测验、记忆与复盘连接为一个系统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76EB6-4F20-4751-A47D-AB9D0EBE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当前版本已经具备现场演示与继续扩展的工程基础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5ACB5-337E-4CB6-BAFB-DF49D13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239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7D4"/>
          </a:solidFill>
          <a:ln xmlns:a="http://schemas.openxmlformats.org/drawingml/2006/main" w="0">
            <a:solidFill>
              <a:srgbClr val="397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A2D96-8372-4518-9C58-0E0F610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8D3E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DF454-C46B-4AF0-A210-4B34FE8A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196CE-4A40-4DF0-A900-1C8FD424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Java 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77A95-7886-4EE9-AA5F-E98954C7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70287-BD6C-4967-8936-4D0B3BE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EA652-1DC0-4739-AC26-4A4E501C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4A215-0E8A-4897-8206-17ACDE6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Flyway 迁移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B9C66-83B8-4D31-A07C-8CFD10F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4787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BF991-718C-4E64-A5C9-2885367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9C8E3"/>
                </a:solidFill>
                <a:latin typeface="Microsoft YaHei"/>
                <a:ea typeface="Microsoft YaHei"/>
                <a:cs typeface="Microsoft YaHei"/>
              </a:rPr>
              <a:t>无 Key 时复习中断次数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81B15-1CAC-4F46-BA42-83A7015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C149E-EF49-4915-BA5E-4676E85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17"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Backend tests · Frontend production build · PostgreSQL / PGVector · 重启持久化 · 无 API Key 复习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9550D-9D53-490C-8069-165F1AB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6C7D4"/>
                </a:solidFill>
                <a:latin typeface="Microsoft YaHei"/>
                <a:ea typeface="Microsoft YaHei"/>
                <a:cs typeface="Microsoft YaHei"/>
              </a:rPr>
              <a:t>下一步补充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56EF8-6DBD-49DD-92B1-0EBD62C3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910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现场演示截图与讲解节奏 · 小组成员角色和任务比例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9BED2-DD58-43FC-A361-C29F8CE3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DE6F8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86907A-0472-48CB-951B-6A5D1F52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LearnAgent · Java 课程项目答辩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0CA05-8291-4771-97FE-152724CE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FA2CA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074240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2026-10-17T07:26:15.2910000Z</dcterms:created>
  <dcterms:modified xsi:type="dcterms:W3CDTF">2026-10-17T07:26:15.2910000Z</dcterms:modified>
</coreProperties>
</file>